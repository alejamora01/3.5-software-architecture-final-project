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60152" cy="1097280"/>
          </a:xfrm>
          <a:prstGeom prst="rect">
            <a:avLst/>
          </a:prstGeom>
          <a:noFill/>
        </p:spPr>
        <p:txBody>
          <a:bodyPr wrap="square">
            <a:spAutoFit/>
          </a:bodyPr>
          <a:lstStyle/>
          <a:p>
            <a:pPr algn="ctr"/>
            <a:r>
              <a:rPr sz="4400" b="1">
                <a:solidFill>
                  <a:srgbClr val="FFFFFF"/>
                </a:solidFill>
              </a:rPr>
              <a:t>Apache Commons Net 3.5</a:t>
            </a:r>
          </a:p>
        </p:txBody>
      </p:sp>
      <p:sp>
        <p:nvSpPr>
          <p:cNvPr id="4" name="TextBox 3"/>
          <p:cNvSpPr txBox="1"/>
          <p:nvPr/>
        </p:nvSpPr>
        <p:spPr>
          <a:xfrm>
            <a:off x="914400" y="2834640"/>
            <a:ext cx="10360152" cy="640080"/>
          </a:xfrm>
          <a:prstGeom prst="rect">
            <a:avLst/>
          </a:prstGeom>
          <a:noFill/>
        </p:spPr>
        <p:txBody>
          <a:bodyPr wrap="square">
            <a:spAutoFit/>
          </a:bodyPr>
          <a:lstStyle/>
          <a:p>
            <a:pPr algn="ctr"/>
            <a:r>
              <a:rPr sz="2600" b="0">
                <a:solidFill>
                  <a:srgbClr val="BBCCEE"/>
                </a:solidFill>
              </a:rPr>
              <a:t>Software Architecture Analysis</a:t>
            </a:r>
          </a:p>
        </p:txBody>
      </p:sp>
      <p:sp>
        <p:nvSpPr>
          <p:cNvPr id="5" name="TextBox 4"/>
          <p:cNvSpPr txBox="1"/>
          <p:nvPr/>
        </p:nvSpPr>
        <p:spPr>
          <a:xfrm>
            <a:off x="914400" y="3566160"/>
            <a:ext cx="10360152" cy="457200"/>
          </a:xfrm>
          <a:prstGeom prst="rect">
            <a:avLst/>
          </a:prstGeom>
          <a:noFill/>
        </p:spPr>
        <p:txBody>
          <a:bodyPr wrap="square">
            <a:spAutoFit/>
          </a:bodyPr>
          <a:lstStyle/>
          <a:p>
            <a:pPr algn="ctr"/>
            <a:r>
              <a:rPr sz="1500" b="0">
                <a:solidFill>
                  <a:srgbClr val="88AADD"/>
                </a:solidFill>
              </a:rPr>
              <a:t>Program Overview  ·  Diagrams  ·  Design Patterns  ·  Proposed Changes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Program Overview</a:t>
            </a:r>
          </a:p>
        </p:txBody>
      </p:sp>
      <p:sp>
        <p:nvSpPr>
          <p:cNvPr id="4" name="TextBox 3"/>
          <p:cNvSpPr txBox="1"/>
          <p:nvPr/>
        </p:nvSpPr>
        <p:spPr>
          <a:xfrm>
            <a:off x="274320" y="685800"/>
            <a:ext cx="11430000" cy="365760"/>
          </a:xfrm>
          <a:prstGeom prst="rect">
            <a:avLst/>
          </a:prstGeom>
          <a:noFill/>
        </p:spPr>
        <p:txBody>
          <a:bodyPr wrap="square">
            <a:spAutoFit/>
          </a:bodyPr>
          <a:lstStyle/>
          <a:p>
            <a:pPr algn="l"/>
            <a:r>
              <a:rPr sz="1400" b="0">
                <a:solidFill>
                  <a:srgbClr val="BBCCEE"/>
                </a:solidFill>
              </a:rPr>
              <a:t>What Apache Commons Net Is</a:t>
            </a:r>
          </a:p>
        </p:txBody>
      </p:sp>
      <p:sp>
        <p:nvSpPr>
          <p:cNvPr id="5" name="TextBox 4"/>
          <p:cNvSpPr txBox="1"/>
          <p:nvPr/>
        </p:nvSpPr>
        <p:spPr>
          <a:xfrm>
            <a:off x="365760" y="1234440"/>
            <a:ext cx="11430000" cy="822960"/>
          </a:xfrm>
          <a:prstGeom prst="rect">
            <a:avLst/>
          </a:prstGeom>
          <a:noFill/>
        </p:spPr>
        <p:txBody>
          <a:bodyPr wrap="square">
            <a:spAutoFit/>
          </a:bodyPr>
          <a:lstStyle/>
          <a:p>
            <a:pPr algn="l"/>
            <a:r>
              <a:rPr sz="1500" b="0">
                <a:solidFill>
                  <a:srgbClr val="333333"/>
                </a:solidFill>
              </a:rPr>
              <a:t>Apache Commons Net is a Java networking library — not an application. It provides client-side implementations of 10+ internet protocols so that other Java programs can communicate over a network without reimplementing low-level socket and protocol logic.</a:t>
            </a:r>
          </a:p>
        </p:txBody>
      </p:sp>
      <p:sp>
        <p:nvSpPr>
          <p:cNvPr id="6" name="Rectangle 5"/>
          <p:cNvSpPr/>
          <p:nvPr/>
        </p:nvSpPr>
        <p:spPr>
          <a:xfrm>
            <a:off x="274320" y="2103120"/>
            <a:ext cx="11612880" cy="4389120"/>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48840"/>
            <a:ext cx="4572000" cy="320040"/>
          </a:xfrm>
          <a:prstGeom prst="rect">
            <a:avLst/>
          </a:prstGeom>
          <a:noFill/>
        </p:spPr>
        <p:txBody>
          <a:bodyPr wrap="square">
            <a:spAutoFit/>
          </a:bodyPr>
          <a:lstStyle/>
          <a:p>
            <a:pPr algn="l"/>
            <a:r>
              <a:rPr sz="1300" b="1">
                <a:solidFill>
                  <a:srgbClr val="1F3D6B"/>
                </a:solidFill>
              </a:rPr>
              <a:t>Supported Protocols</a:t>
            </a:r>
          </a:p>
        </p:txBody>
      </p:sp>
      <p:sp>
        <p:nvSpPr>
          <p:cNvPr id="8" name="TextBox 7"/>
          <p:cNvSpPr txBox="1"/>
          <p:nvPr/>
        </p:nvSpPr>
        <p:spPr>
          <a:xfrm>
            <a:off x="457200" y="2514600"/>
            <a:ext cx="2286000" cy="256032"/>
          </a:xfrm>
          <a:prstGeom prst="rect">
            <a:avLst/>
          </a:prstGeom>
          <a:noFill/>
        </p:spPr>
        <p:txBody>
          <a:bodyPr wrap="square">
            <a:spAutoFit/>
          </a:bodyPr>
          <a:lstStyle/>
          <a:p>
            <a:pPr algn="l"/>
            <a:r>
              <a:rPr sz="1300" b="1">
                <a:solidFill>
                  <a:srgbClr val="1F3D6B"/>
                </a:solidFill>
              </a:rPr>
              <a:t>FTP / FTPS</a:t>
            </a:r>
          </a:p>
        </p:txBody>
      </p:sp>
      <p:sp>
        <p:nvSpPr>
          <p:cNvPr id="9" name="TextBox 8"/>
          <p:cNvSpPr txBox="1"/>
          <p:nvPr/>
        </p:nvSpPr>
        <p:spPr>
          <a:xfrm>
            <a:off x="2834640" y="2514600"/>
            <a:ext cx="8869680" cy="256032"/>
          </a:xfrm>
          <a:prstGeom prst="rect">
            <a:avLst/>
          </a:prstGeom>
          <a:noFill/>
        </p:spPr>
        <p:txBody>
          <a:bodyPr wrap="square">
            <a:spAutoFit/>
          </a:bodyPr>
          <a:lstStyle/>
          <a:p>
            <a:pPr algn="l"/>
            <a:r>
              <a:rPr sz="1300" b="0">
                <a:solidFill>
                  <a:srgbClr val="333333"/>
                </a:solidFill>
              </a:rPr>
              <a:t>Upload &amp; download files from FTP servers</a:t>
            </a:r>
          </a:p>
        </p:txBody>
      </p:sp>
      <p:sp>
        <p:nvSpPr>
          <p:cNvPr id="10" name="TextBox 9"/>
          <p:cNvSpPr txBox="1"/>
          <p:nvPr/>
        </p:nvSpPr>
        <p:spPr>
          <a:xfrm>
            <a:off x="457200" y="2788920"/>
            <a:ext cx="2286000" cy="256032"/>
          </a:xfrm>
          <a:prstGeom prst="rect">
            <a:avLst/>
          </a:prstGeom>
          <a:noFill/>
        </p:spPr>
        <p:txBody>
          <a:bodyPr wrap="square">
            <a:spAutoFit/>
          </a:bodyPr>
          <a:lstStyle/>
          <a:p>
            <a:pPr algn="l"/>
            <a:r>
              <a:rPr sz="1300" b="1">
                <a:solidFill>
                  <a:srgbClr val="1F3D6B"/>
                </a:solidFill>
              </a:rPr>
              <a:t>SMTP / SMTPS</a:t>
            </a:r>
          </a:p>
        </p:txBody>
      </p:sp>
      <p:sp>
        <p:nvSpPr>
          <p:cNvPr id="11" name="TextBox 10"/>
          <p:cNvSpPr txBox="1"/>
          <p:nvPr/>
        </p:nvSpPr>
        <p:spPr>
          <a:xfrm>
            <a:off x="2834640" y="2788920"/>
            <a:ext cx="8869680" cy="256032"/>
          </a:xfrm>
          <a:prstGeom prst="rect">
            <a:avLst/>
          </a:prstGeom>
          <a:noFill/>
        </p:spPr>
        <p:txBody>
          <a:bodyPr wrap="square">
            <a:spAutoFit/>
          </a:bodyPr>
          <a:lstStyle/>
          <a:p>
            <a:pPr algn="l"/>
            <a:r>
              <a:rPr sz="1300" b="0">
                <a:solidFill>
                  <a:srgbClr val="333333"/>
                </a:solidFill>
              </a:rPr>
              <a:t>Send email</a:t>
            </a:r>
          </a:p>
        </p:txBody>
      </p:sp>
      <p:sp>
        <p:nvSpPr>
          <p:cNvPr id="12" name="TextBox 11"/>
          <p:cNvSpPr txBox="1"/>
          <p:nvPr/>
        </p:nvSpPr>
        <p:spPr>
          <a:xfrm>
            <a:off x="457200" y="3063239"/>
            <a:ext cx="2286000" cy="256032"/>
          </a:xfrm>
          <a:prstGeom prst="rect">
            <a:avLst/>
          </a:prstGeom>
          <a:noFill/>
        </p:spPr>
        <p:txBody>
          <a:bodyPr wrap="square">
            <a:spAutoFit/>
          </a:bodyPr>
          <a:lstStyle/>
          <a:p>
            <a:pPr algn="l"/>
            <a:r>
              <a:rPr sz="1300" b="1">
                <a:solidFill>
                  <a:srgbClr val="1F3D6B"/>
                </a:solidFill>
              </a:rPr>
              <a:t>IMAP / IMAPS</a:t>
            </a:r>
          </a:p>
        </p:txBody>
      </p:sp>
      <p:sp>
        <p:nvSpPr>
          <p:cNvPr id="13" name="TextBox 12"/>
          <p:cNvSpPr txBox="1"/>
          <p:nvPr/>
        </p:nvSpPr>
        <p:spPr>
          <a:xfrm>
            <a:off x="2834640" y="3063239"/>
            <a:ext cx="8869680" cy="256032"/>
          </a:xfrm>
          <a:prstGeom prst="rect">
            <a:avLst/>
          </a:prstGeom>
          <a:noFill/>
        </p:spPr>
        <p:txBody>
          <a:bodyPr wrap="square">
            <a:spAutoFit/>
          </a:bodyPr>
          <a:lstStyle/>
          <a:p>
            <a:pPr algn="l"/>
            <a:r>
              <a:rPr sz="1300" b="0">
                <a:solidFill>
                  <a:srgbClr val="333333"/>
                </a:solidFill>
              </a:rPr>
              <a:t>Read email from a mail server</a:t>
            </a:r>
          </a:p>
        </p:txBody>
      </p:sp>
      <p:sp>
        <p:nvSpPr>
          <p:cNvPr id="14" name="TextBox 13"/>
          <p:cNvSpPr txBox="1"/>
          <p:nvPr/>
        </p:nvSpPr>
        <p:spPr>
          <a:xfrm>
            <a:off x="457200" y="3337559"/>
            <a:ext cx="2286000" cy="256032"/>
          </a:xfrm>
          <a:prstGeom prst="rect">
            <a:avLst/>
          </a:prstGeom>
          <a:noFill/>
        </p:spPr>
        <p:txBody>
          <a:bodyPr wrap="square">
            <a:spAutoFit/>
          </a:bodyPr>
          <a:lstStyle/>
          <a:p>
            <a:pPr algn="l"/>
            <a:r>
              <a:rPr sz="1300" b="1">
                <a:solidFill>
                  <a:srgbClr val="1F3D6B"/>
                </a:solidFill>
              </a:rPr>
              <a:t>POP3 / POP3S</a:t>
            </a:r>
          </a:p>
        </p:txBody>
      </p:sp>
      <p:sp>
        <p:nvSpPr>
          <p:cNvPr id="15" name="TextBox 14"/>
          <p:cNvSpPr txBox="1"/>
          <p:nvPr/>
        </p:nvSpPr>
        <p:spPr>
          <a:xfrm>
            <a:off x="2834640" y="3337559"/>
            <a:ext cx="8869680" cy="256032"/>
          </a:xfrm>
          <a:prstGeom prst="rect">
            <a:avLst/>
          </a:prstGeom>
          <a:noFill/>
        </p:spPr>
        <p:txBody>
          <a:bodyPr wrap="square">
            <a:spAutoFit/>
          </a:bodyPr>
          <a:lstStyle/>
          <a:p>
            <a:pPr algn="l"/>
            <a:r>
              <a:rPr sz="1300" b="0">
                <a:solidFill>
                  <a:srgbClr val="333333"/>
                </a:solidFill>
              </a:rPr>
              <a:t>Retrieve email</a:t>
            </a:r>
          </a:p>
        </p:txBody>
      </p:sp>
      <p:sp>
        <p:nvSpPr>
          <p:cNvPr id="16" name="TextBox 15"/>
          <p:cNvSpPr txBox="1"/>
          <p:nvPr/>
        </p:nvSpPr>
        <p:spPr>
          <a:xfrm>
            <a:off x="457200" y="3611879"/>
            <a:ext cx="2286000" cy="256032"/>
          </a:xfrm>
          <a:prstGeom prst="rect">
            <a:avLst/>
          </a:prstGeom>
          <a:noFill/>
        </p:spPr>
        <p:txBody>
          <a:bodyPr wrap="square">
            <a:spAutoFit/>
          </a:bodyPr>
          <a:lstStyle/>
          <a:p>
            <a:pPr algn="l"/>
            <a:r>
              <a:rPr sz="1300" b="1">
                <a:solidFill>
                  <a:srgbClr val="1F3D6B"/>
                </a:solidFill>
              </a:rPr>
              <a:t>NNTP</a:t>
            </a:r>
          </a:p>
        </p:txBody>
      </p:sp>
      <p:sp>
        <p:nvSpPr>
          <p:cNvPr id="17" name="TextBox 16"/>
          <p:cNvSpPr txBox="1"/>
          <p:nvPr/>
        </p:nvSpPr>
        <p:spPr>
          <a:xfrm>
            <a:off x="2834640" y="3611879"/>
            <a:ext cx="8869680" cy="256032"/>
          </a:xfrm>
          <a:prstGeom prst="rect">
            <a:avLst/>
          </a:prstGeom>
          <a:noFill/>
        </p:spPr>
        <p:txBody>
          <a:bodyPr wrap="square">
            <a:spAutoFit/>
          </a:bodyPr>
          <a:lstStyle/>
          <a:p>
            <a:pPr algn="l"/>
            <a:r>
              <a:rPr sz="1300" b="0">
                <a:solidFill>
                  <a:srgbClr val="333333"/>
                </a:solidFill>
              </a:rPr>
              <a:t>Read/post Usenet newsgroup articles</a:t>
            </a:r>
          </a:p>
        </p:txBody>
      </p:sp>
      <p:sp>
        <p:nvSpPr>
          <p:cNvPr id="18" name="TextBox 17"/>
          <p:cNvSpPr txBox="1"/>
          <p:nvPr/>
        </p:nvSpPr>
        <p:spPr>
          <a:xfrm>
            <a:off x="457200" y="3886199"/>
            <a:ext cx="2286000" cy="256032"/>
          </a:xfrm>
          <a:prstGeom prst="rect">
            <a:avLst/>
          </a:prstGeom>
          <a:noFill/>
        </p:spPr>
        <p:txBody>
          <a:bodyPr wrap="square">
            <a:spAutoFit/>
          </a:bodyPr>
          <a:lstStyle/>
          <a:p>
            <a:pPr algn="l"/>
            <a:r>
              <a:rPr sz="1300" b="1">
                <a:solidFill>
                  <a:srgbClr val="1F3D6B"/>
                </a:solidFill>
              </a:rPr>
              <a:t>Telnet</a:t>
            </a:r>
          </a:p>
        </p:txBody>
      </p:sp>
      <p:sp>
        <p:nvSpPr>
          <p:cNvPr id="19" name="TextBox 18"/>
          <p:cNvSpPr txBox="1"/>
          <p:nvPr/>
        </p:nvSpPr>
        <p:spPr>
          <a:xfrm>
            <a:off x="2834640" y="3886199"/>
            <a:ext cx="8869680" cy="256032"/>
          </a:xfrm>
          <a:prstGeom prst="rect">
            <a:avLst/>
          </a:prstGeom>
          <a:noFill/>
        </p:spPr>
        <p:txBody>
          <a:bodyPr wrap="square">
            <a:spAutoFit/>
          </a:bodyPr>
          <a:lstStyle/>
          <a:p>
            <a:pPr algn="l"/>
            <a:r>
              <a:rPr sz="1300" b="0">
                <a:solidFill>
                  <a:srgbClr val="333333"/>
                </a:solidFill>
              </a:rPr>
              <a:t>Remote terminal sessions</a:t>
            </a:r>
          </a:p>
        </p:txBody>
      </p:sp>
      <p:sp>
        <p:nvSpPr>
          <p:cNvPr id="20" name="TextBox 19"/>
          <p:cNvSpPr txBox="1"/>
          <p:nvPr/>
        </p:nvSpPr>
        <p:spPr>
          <a:xfrm>
            <a:off x="457200" y="4160519"/>
            <a:ext cx="2286000" cy="256032"/>
          </a:xfrm>
          <a:prstGeom prst="rect">
            <a:avLst/>
          </a:prstGeom>
          <a:noFill/>
        </p:spPr>
        <p:txBody>
          <a:bodyPr wrap="square">
            <a:spAutoFit/>
          </a:bodyPr>
          <a:lstStyle/>
          <a:p>
            <a:pPr algn="l"/>
            <a:r>
              <a:rPr sz="1300" b="1">
                <a:solidFill>
                  <a:srgbClr val="1F3D6B"/>
                </a:solidFill>
              </a:rPr>
              <a:t>NTP / Time</a:t>
            </a:r>
          </a:p>
        </p:txBody>
      </p:sp>
      <p:sp>
        <p:nvSpPr>
          <p:cNvPr id="21" name="TextBox 20"/>
          <p:cNvSpPr txBox="1"/>
          <p:nvPr/>
        </p:nvSpPr>
        <p:spPr>
          <a:xfrm>
            <a:off x="2834640" y="4160519"/>
            <a:ext cx="8869680" cy="256032"/>
          </a:xfrm>
          <a:prstGeom prst="rect">
            <a:avLst/>
          </a:prstGeom>
          <a:noFill/>
        </p:spPr>
        <p:txBody>
          <a:bodyPr wrap="square">
            <a:spAutoFit/>
          </a:bodyPr>
          <a:lstStyle/>
          <a:p>
            <a:pPr algn="l"/>
            <a:r>
              <a:rPr sz="1300" b="0">
                <a:solidFill>
                  <a:srgbClr val="333333"/>
                </a:solidFill>
              </a:rPr>
              <a:t>Synchronise clocks from a time server</a:t>
            </a:r>
          </a:p>
        </p:txBody>
      </p:sp>
      <p:sp>
        <p:nvSpPr>
          <p:cNvPr id="22" name="TextBox 21"/>
          <p:cNvSpPr txBox="1"/>
          <p:nvPr/>
        </p:nvSpPr>
        <p:spPr>
          <a:xfrm>
            <a:off x="457200" y="4434839"/>
            <a:ext cx="2286000" cy="256032"/>
          </a:xfrm>
          <a:prstGeom prst="rect">
            <a:avLst/>
          </a:prstGeom>
          <a:noFill/>
        </p:spPr>
        <p:txBody>
          <a:bodyPr wrap="square">
            <a:spAutoFit/>
          </a:bodyPr>
          <a:lstStyle/>
          <a:p>
            <a:pPr algn="l"/>
            <a:r>
              <a:rPr sz="1300" b="1">
                <a:solidFill>
                  <a:srgbClr val="1F3D6B"/>
                </a:solidFill>
              </a:rPr>
              <a:t>Echo / Daytime</a:t>
            </a:r>
          </a:p>
        </p:txBody>
      </p:sp>
      <p:sp>
        <p:nvSpPr>
          <p:cNvPr id="23" name="TextBox 22"/>
          <p:cNvSpPr txBox="1"/>
          <p:nvPr/>
        </p:nvSpPr>
        <p:spPr>
          <a:xfrm>
            <a:off x="2834640" y="4434839"/>
            <a:ext cx="8869680" cy="256032"/>
          </a:xfrm>
          <a:prstGeom prst="rect">
            <a:avLst/>
          </a:prstGeom>
          <a:noFill/>
        </p:spPr>
        <p:txBody>
          <a:bodyPr wrap="square">
            <a:spAutoFit/>
          </a:bodyPr>
          <a:lstStyle/>
          <a:p>
            <a:pPr algn="l"/>
            <a:r>
              <a:rPr sz="1300" b="0">
                <a:solidFill>
                  <a:srgbClr val="333333"/>
                </a:solidFill>
              </a:rPr>
              <a:t>Basic TCP/UDP test services</a:t>
            </a:r>
          </a:p>
        </p:txBody>
      </p:sp>
      <p:sp>
        <p:nvSpPr>
          <p:cNvPr id="24" name="TextBox 23"/>
          <p:cNvSpPr txBox="1"/>
          <p:nvPr/>
        </p:nvSpPr>
        <p:spPr>
          <a:xfrm>
            <a:off x="457200" y="4709159"/>
            <a:ext cx="2286000" cy="256032"/>
          </a:xfrm>
          <a:prstGeom prst="rect">
            <a:avLst/>
          </a:prstGeom>
          <a:noFill/>
        </p:spPr>
        <p:txBody>
          <a:bodyPr wrap="square">
            <a:spAutoFit/>
          </a:bodyPr>
          <a:lstStyle/>
          <a:p>
            <a:pPr algn="l"/>
            <a:r>
              <a:rPr sz="1300" b="1">
                <a:solidFill>
                  <a:srgbClr val="1F3D6B"/>
                </a:solidFill>
              </a:rPr>
              <a:t>Finger</a:t>
            </a:r>
          </a:p>
        </p:txBody>
      </p:sp>
      <p:sp>
        <p:nvSpPr>
          <p:cNvPr id="25" name="TextBox 24"/>
          <p:cNvSpPr txBox="1"/>
          <p:nvPr/>
        </p:nvSpPr>
        <p:spPr>
          <a:xfrm>
            <a:off x="2834640" y="4709159"/>
            <a:ext cx="8869680" cy="256032"/>
          </a:xfrm>
          <a:prstGeom prst="rect">
            <a:avLst/>
          </a:prstGeom>
          <a:noFill/>
        </p:spPr>
        <p:txBody>
          <a:bodyPr wrap="square">
            <a:spAutoFit/>
          </a:bodyPr>
          <a:lstStyle/>
          <a:p>
            <a:pPr algn="l"/>
            <a:r>
              <a:rPr sz="1300" b="0">
                <a:solidFill>
                  <a:srgbClr val="333333"/>
                </a:solidFill>
              </a:rPr>
              <a:t>Look up user info on a remote server</a:t>
            </a:r>
          </a:p>
        </p:txBody>
      </p:sp>
      <p:sp>
        <p:nvSpPr>
          <p:cNvPr id="26" name="TextBox 25"/>
          <p:cNvSpPr txBox="1"/>
          <p:nvPr/>
        </p:nvSpPr>
        <p:spPr>
          <a:xfrm>
            <a:off x="457200" y="4983479"/>
            <a:ext cx="2286000" cy="256032"/>
          </a:xfrm>
          <a:prstGeom prst="rect">
            <a:avLst/>
          </a:prstGeom>
          <a:noFill/>
        </p:spPr>
        <p:txBody>
          <a:bodyPr wrap="square">
            <a:spAutoFit/>
          </a:bodyPr>
          <a:lstStyle/>
          <a:p>
            <a:pPr algn="l"/>
            <a:r>
              <a:rPr sz="1300" b="1">
                <a:solidFill>
                  <a:srgbClr val="1F3D6B"/>
                </a:solidFill>
              </a:rPr>
              <a:t>BSD r-commands</a:t>
            </a:r>
          </a:p>
        </p:txBody>
      </p:sp>
      <p:sp>
        <p:nvSpPr>
          <p:cNvPr id="27" name="TextBox 26"/>
          <p:cNvSpPr txBox="1"/>
          <p:nvPr/>
        </p:nvSpPr>
        <p:spPr>
          <a:xfrm>
            <a:off x="2834640" y="4983479"/>
            <a:ext cx="8869680" cy="256032"/>
          </a:xfrm>
          <a:prstGeom prst="rect">
            <a:avLst/>
          </a:prstGeom>
          <a:noFill/>
        </p:spPr>
        <p:txBody>
          <a:bodyPr wrap="square">
            <a:spAutoFit/>
          </a:bodyPr>
          <a:lstStyle/>
          <a:p>
            <a:pPr algn="l"/>
            <a:r>
              <a:rPr sz="1300" b="0">
                <a:solidFill>
                  <a:srgbClr val="333333"/>
                </a:solidFill>
              </a:rPr>
              <a:t>Legacy remote exec / login (rexec, rlogin)</a:t>
            </a:r>
          </a:p>
        </p:txBody>
      </p:sp>
      <p:sp>
        <p:nvSpPr>
          <p:cNvPr id="28" name="TextBox 27"/>
          <p:cNvSpPr txBox="1"/>
          <p:nvPr/>
        </p:nvSpPr>
        <p:spPr>
          <a:xfrm>
            <a:off x="457200" y="5257799"/>
            <a:ext cx="2286000" cy="256032"/>
          </a:xfrm>
          <a:prstGeom prst="rect">
            <a:avLst/>
          </a:prstGeom>
          <a:noFill/>
        </p:spPr>
        <p:txBody>
          <a:bodyPr wrap="square">
            <a:spAutoFit/>
          </a:bodyPr>
          <a:lstStyle/>
          <a:p>
            <a:pPr algn="l"/>
            <a:r>
              <a:rPr sz="1300" b="1">
                <a:solidFill>
                  <a:srgbClr val="1F3D6B"/>
                </a:solidFill>
              </a:rPr>
              <a:t>CIDR / Subnet</a:t>
            </a:r>
          </a:p>
        </p:txBody>
      </p:sp>
      <p:sp>
        <p:nvSpPr>
          <p:cNvPr id="29" name="TextBox 28"/>
          <p:cNvSpPr txBox="1"/>
          <p:nvPr/>
        </p:nvSpPr>
        <p:spPr>
          <a:xfrm>
            <a:off x="2834640" y="5257799"/>
            <a:ext cx="8869680" cy="256032"/>
          </a:xfrm>
          <a:prstGeom prst="rect">
            <a:avLst/>
          </a:prstGeom>
          <a:noFill/>
        </p:spPr>
        <p:txBody>
          <a:bodyPr wrap="square">
            <a:spAutoFit/>
          </a:bodyPr>
          <a:lstStyle/>
          <a:p>
            <a:pPr algn="l"/>
            <a:r>
              <a:rPr sz="1300" b="0">
                <a:solidFill>
                  <a:srgbClr val="333333"/>
                </a:solidFill>
              </a:rPr>
              <a:t>IP address &amp; subnet math utilities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Architecture Overview</a:t>
            </a:r>
          </a:p>
        </p:txBody>
      </p:sp>
      <p:sp>
        <p:nvSpPr>
          <p:cNvPr id="4" name="TextBox 3"/>
          <p:cNvSpPr txBox="1"/>
          <p:nvPr/>
        </p:nvSpPr>
        <p:spPr>
          <a:xfrm>
            <a:off x="274320" y="685800"/>
            <a:ext cx="11430000" cy="365760"/>
          </a:xfrm>
          <a:prstGeom prst="rect">
            <a:avLst/>
          </a:prstGeom>
          <a:noFill/>
        </p:spPr>
        <p:txBody>
          <a:bodyPr wrap="square">
            <a:spAutoFit/>
          </a:bodyPr>
          <a:lstStyle/>
          <a:p>
            <a:pPr algn="l"/>
            <a:r>
              <a:rPr sz="1400" b="0">
                <a:solidFill>
                  <a:srgbClr val="BBCCEE"/>
                </a:solidFill>
              </a:rPr>
              <a:t>Two transport bases, layered protocol stacks</a:t>
            </a:r>
          </a:p>
        </p:txBody>
      </p:sp>
      <p:sp>
        <p:nvSpPr>
          <p:cNvPr id="5" name="TextBox 4"/>
          <p:cNvSpPr txBox="1"/>
          <p:nvPr/>
        </p:nvSpPr>
        <p:spPr>
          <a:xfrm>
            <a:off x="365760" y="1188720"/>
            <a:ext cx="11430000" cy="274320"/>
          </a:xfrm>
          <a:prstGeom prst="rect">
            <a:avLst/>
          </a:prstGeom>
          <a:noFill/>
        </p:spPr>
        <p:txBody>
          <a:bodyPr wrap="square">
            <a:spAutoFit/>
          </a:bodyPr>
          <a:lstStyle/>
          <a:p>
            <a:pPr algn="l"/>
            <a:r>
              <a:rPr sz="1200" b="0">
                <a:solidFill>
                  <a:srgbClr val="555555"/>
                </a:solidFill>
              </a:rPr>
              <a:t>Top-to-bottom = call depth from consumer to socket</a:t>
            </a:r>
          </a:p>
        </p:txBody>
      </p:sp>
      <p:sp>
        <p:nvSpPr>
          <p:cNvPr id="6" name="Rectangle 5"/>
          <p:cNvSpPr/>
          <p:nvPr/>
        </p:nvSpPr>
        <p:spPr>
          <a:xfrm>
            <a:off x="457200" y="1280160"/>
            <a:ext cx="11247120" cy="822960"/>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44751"/>
            <a:ext cx="10972800" cy="594360"/>
          </a:xfrm>
          <a:prstGeom prst="rect">
            <a:avLst/>
          </a:prstGeom>
          <a:noFill/>
        </p:spPr>
        <p:txBody>
          <a:bodyPr wrap="square">
            <a:spAutoFit/>
          </a:bodyPr>
          <a:lstStyle/>
          <a:p>
            <a:pPr algn="ctr"/>
            <a:r>
              <a:rPr sz="1400" b="0">
                <a:solidFill>
                  <a:srgbClr val="333333"/>
                </a:solidFill>
              </a:rPr>
              <a:t>Your Application</a:t>
            </a:r>
          </a:p>
        </p:txBody>
      </p:sp>
      <p:sp>
        <p:nvSpPr>
          <p:cNvPr id="8" name="Rectangle 7"/>
          <p:cNvSpPr/>
          <p:nvPr/>
        </p:nvSpPr>
        <p:spPr>
          <a:xfrm>
            <a:off x="457200" y="2286000"/>
            <a:ext cx="11247120" cy="640080"/>
          </a:xfrm>
          <a:prstGeom prst="rect">
            <a:avLst/>
          </a:prstGeom>
          <a:solidFill>
            <a:srgbClr val="D5E8D4"/>
          </a:solidFill>
          <a:ln w="9525">
            <a:solidFill>
              <a:srgbClr val="82B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450592"/>
            <a:ext cx="10972800" cy="411479"/>
          </a:xfrm>
          <a:prstGeom prst="rect">
            <a:avLst/>
          </a:prstGeom>
          <a:noFill/>
        </p:spPr>
        <p:txBody>
          <a:bodyPr wrap="square">
            <a:spAutoFit/>
          </a:bodyPr>
          <a:lstStyle/>
          <a:p>
            <a:pPr algn="ctr"/>
            <a:r>
              <a:rPr sz="1400" b="0">
                <a:solidFill>
                  <a:srgbClr val="333333"/>
                </a:solidFill>
              </a:rPr>
              <a:t>Protocol Clients  (FTPClient · SMTPClient · IMAPClient · NNTPClient · TelnetClient · UDP Clients)</a:t>
            </a:r>
          </a:p>
        </p:txBody>
      </p:sp>
      <p:sp>
        <p:nvSpPr>
          <p:cNvPr id="10" name="Rectangle 9"/>
          <p:cNvSpPr/>
          <p:nvPr/>
        </p:nvSpPr>
        <p:spPr>
          <a:xfrm>
            <a:off x="457200" y="3154680"/>
            <a:ext cx="11247120" cy="640080"/>
          </a:xfrm>
          <a:prstGeom prst="rect">
            <a:avLst/>
          </a:prstGeom>
          <a:solidFill>
            <a:srgbClr val="FFF2CC"/>
          </a:solidFill>
          <a:ln w="9525">
            <a:solidFill>
              <a:srgbClr val="D6B6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319272"/>
            <a:ext cx="10972800" cy="411479"/>
          </a:xfrm>
          <a:prstGeom prst="rect">
            <a:avLst/>
          </a:prstGeom>
          <a:noFill/>
        </p:spPr>
        <p:txBody>
          <a:bodyPr wrap="square">
            <a:spAutoFit/>
          </a:bodyPr>
          <a:lstStyle/>
          <a:p>
            <a:pPr algn="ctr"/>
            <a:r>
              <a:rPr sz="1400" b="0">
                <a:solidFill>
                  <a:srgbClr val="333333"/>
                </a:solidFill>
              </a:rPr>
              <a:t>Protocol Command Bases  (FTP · SMTP · IMAP · NNTP · Telnet)</a:t>
            </a:r>
          </a:p>
        </p:txBody>
      </p:sp>
      <p:sp>
        <p:nvSpPr>
          <p:cNvPr id="12" name="Rectangle 11"/>
          <p:cNvSpPr/>
          <p:nvPr/>
        </p:nvSpPr>
        <p:spPr>
          <a:xfrm>
            <a:off x="457200" y="3977639"/>
            <a:ext cx="11247120" cy="640080"/>
          </a:xfrm>
          <a:prstGeom prst="rect">
            <a:avLst/>
          </a:prstGeom>
          <a:solidFill>
            <a:srgbClr val="F8CECC"/>
          </a:solidFill>
          <a:ln w="9525">
            <a:solidFill>
              <a:srgbClr val="B856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142231"/>
            <a:ext cx="10972800" cy="411479"/>
          </a:xfrm>
          <a:prstGeom prst="rect">
            <a:avLst/>
          </a:prstGeom>
          <a:noFill/>
        </p:spPr>
        <p:txBody>
          <a:bodyPr wrap="square">
            <a:spAutoFit/>
          </a:bodyPr>
          <a:lstStyle/>
          <a:p>
            <a:pPr algn="ctr"/>
            <a:r>
              <a:rPr sz="1400" b="0">
                <a:solidFill>
                  <a:srgbClr val="333333"/>
                </a:solidFill>
              </a:rPr>
              <a:t>SocketClient (abstract TCP base)  |  DatagramSocketClient (abstract UDP base)</a:t>
            </a:r>
          </a:p>
        </p:txBody>
      </p:sp>
      <p:sp>
        <p:nvSpPr>
          <p:cNvPr id="14" name="Rectangle 13"/>
          <p:cNvSpPr/>
          <p:nvPr/>
        </p:nvSpPr>
        <p:spPr>
          <a:xfrm>
            <a:off x="457200" y="4800600"/>
            <a:ext cx="11247120" cy="594360"/>
          </a:xfrm>
          <a:prstGeom prst="rect">
            <a:avLst/>
          </a:prstGeom>
          <a:solidFill>
            <a:srgbClr val="E0E0E0"/>
          </a:solidFill>
          <a:ln w="9525">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965192"/>
            <a:ext cx="10972800" cy="365760"/>
          </a:xfrm>
          <a:prstGeom prst="rect">
            <a:avLst/>
          </a:prstGeom>
          <a:noFill/>
        </p:spPr>
        <p:txBody>
          <a:bodyPr wrap="square">
            <a:spAutoFit/>
          </a:bodyPr>
          <a:lstStyle/>
          <a:p>
            <a:pPr algn="ctr"/>
            <a:r>
              <a:rPr sz="1400" b="0">
                <a:solidFill>
                  <a:srgbClr val="333333"/>
                </a:solidFill>
              </a:rPr>
              <a:t>Java Sockets  (javax.net.SocketFactory / DatagramSocket)</a:t>
            </a:r>
          </a:p>
        </p:txBody>
      </p:sp>
      <p:sp>
        <p:nvSpPr>
          <p:cNvPr id="16" name="TextBox 15"/>
          <p:cNvSpPr txBox="1"/>
          <p:nvPr/>
        </p:nvSpPr>
        <p:spPr>
          <a:xfrm>
            <a:off x="365760" y="5623560"/>
            <a:ext cx="11430000" cy="365760"/>
          </a:xfrm>
          <a:prstGeom prst="rect">
            <a:avLst/>
          </a:prstGeom>
          <a:noFill/>
        </p:spPr>
        <p:txBody>
          <a:bodyPr wrap="square">
            <a:spAutoFit/>
          </a:bodyPr>
          <a:lstStyle/>
          <a:p>
            <a:pPr algn="ctr"/>
            <a:r>
              <a:rPr sz="1300" b="0">
                <a:solidFill>
                  <a:srgbClr val="555555"/>
                </a:solidFill>
              </a:rPr>
              <a:t>Supporting systems: I/O Decorators  ·  FTP Parsers  ·  Observer Events  ·  SSL Utilities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Conceptual Diagram</a:t>
            </a:r>
          </a:p>
        </p:txBody>
      </p:sp>
      <p:sp>
        <p:nvSpPr>
          <p:cNvPr id="4" name="TextBox 3"/>
          <p:cNvSpPr txBox="1"/>
          <p:nvPr/>
        </p:nvSpPr>
        <p:spPr>
          <a:xfrm>
            <a:off x="274320" y="685800"/>
            <a:ext cx="11430000" cy="365760"/>
          </a:xfrm>
          <a:prstGeom prst="rect">
            <a:avLst/>
          </a:prstGeom>
          <a:noFill/>
        </p:spPr>
        <p:txBody>
          <a:bodyPr wrap="square">
            <a:spAutoFit/>
          </a:bodyPr>
          <a:lstStyle/>
          <a:p>
            <a:pPr algn="l"/>
            <a:r>
              <a:rPr sz="1400" b="0">
                <a:solidFill>
                  <a:srgbClr val="BBCCEE"/>
                </a:solidFill>
              </a:rPr>
              <a:t>High-level system structure (see conceptual-diagram.md for Mermaid source)</a:t>
            </a:r>
          </a:p>
        </p:txBody>
      </p:sp>
      <p:sp>
        <p:nvSpPr>
          <p:cNvPr id="5" name="Rectangle 4"/>
          <p:cNvSpPr/>
          <p:nvPr/>
        </p:nvSpPr>
        <p:spPr>
          <a:xfrm>
            <a:off x="274320" y="1280160"/>
            <a:ext cx="3474720" cy="1371600"/>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353312"/>
            <a:ext cx="3291839" cy="320040"/>
          </a:xfrm>
          <a:prstGeom prst="rect">
            <a:avLst/>
          </a:prstGeom>
          <a:noFill/>
        </p:spPr>
        <p:txBody>
          <a:bodyPr wrap="square">
            <a:spAutoFit/>
          </a:bodyPr>
          <a:lstStyle/>
          <a:p>
            <a:pPr algn="l"/>
            <a:r>
              <a:rPr sz="1300" b="1">
                <a:solidFill>
                  <a:srgbClr val="1F3D6B"/>
                </a:solidFill>
              </a:rPr>
              <a:t>Transport Layer</a:t>
            </a:r>
          </a:p>
        </p:txBody>
      </p:sp>
      <p:sp>
        <p:nvSpPr>
          <p:cNvPr id="7" name="TextBox 6"/>
          <p:cNvSpPr txBox="1"/>
          <p:nvPr/>
        </p:nvSpPr>
        <p:spPr>
          <a:xfrm>
            <a:off x="365760" y="1691639"/>
            <a:ext cx="3291839" cy="868680"/>
          </a:xfrm>
          <a:prstGeom prst="rect">
            <a:avLst/>
          </a:prstGeom>
          <a:noFill/>
        </p:spPr>
        <p:txBody>
          <a:bodyPr wrap="square">
            <a:spAutoFit/>
          </a:bodyPr>
          <a:lstStyle/>
          <a:p>
            <a:pPr algn="l"/>
            <a:r>
              <a:rPr sz="1200" b="0">
                <a:solidFill>
                  <a:srgbClr val="333333"/>
                </a:solidFill>
              </a:rPr>
              <a:t>SocketClient (TCP abstract)
DatagramSocketClient (UDP abstract)</a:t>
            </a:r>
          </a:p>
        </p:txBody>
      </p:sp>
      <p:sp>
        <p:nvSpPr>
          <p:cNvPr id="8" name="Rectangle 7"/>
          <p:cNvSpPr/>
          <p:nvPr/>
        </p:nvSpPr>
        <p:spPr>
          <a:xfrm>
            <a:off x="4114800" y="1280160"/>
            <a:ext cx="3657600" cy="1371600"/>
          </a:xfrm>
          <a:prstGeom prst="rect">
            <a:avLst/>
          </a:prstGeom>
          <a:solidFill>
            <a:srgbClr val="D5E8D4"/>
          </a:solidFill>
          <a:ln w="9525">
            <a:solidFill>
              <a:srgbClr val="82B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353312"/>
            <a:ext cx="3474720" cy="320040"/>
          </a:xfrm>
          <a:prstGeom prst="rect">
            <a:avLst/>
          </a:prstGeom>
          <a:noFill/>
        </p:spPr>
        <p:txBody>
          <a:bodyPr wrap="square">
            <a:spAutoFit/>
          </a:bodyPr>
          <a:lstStyle/>
          <a:p>
            <a:pPr algn="l"/>
            <a:r>
              <a:rPr sz="1300" b="1">
                <a:solidFill>
                  <a:srgbClr val="1F3D6B"/>
                </a:solidFill>
              </a:rPr>
              <a:t>Protocol Clients</a:t>
            </a:r>
          </a:p>
        </p:txBody>
      </p:sp>
      <p:sp>
        <p:nvSpPr>
          <p:cNvPr id="10" name="TextBox 9"/>
          <p:cNvSpPr txBox="1"/>
          <p:nvPr/>
        </p:nvSpPr>
        <p:spPr>
          <a:xfrm>
            <a:off x="4206240" y="1691639"/>
            <a:ext cx="3474720" cy="868680"/>
          </a:xfrm>
          <a:prstGeom prst="rect">
            <a:avLst/>
          </a:prstGeom>
          <a:noFill/>
        </p:spPr>
        <p:txBody>
          <a:bodyPr wrap="square">
            <a:spAutoFit/>
          </a:bodyPr>
          <a:lstStyle/>
          <a:p>
            <a:pPr algn="l"/>
            <a:r>
              <a:rPr sz="1200" b="0">
                <a:solidFill>
                  <a:srgbClr val="333333"/>
                </a:solidFill>
              </a:rPr>
              <a:t>FTP · SMTP · IMAP · POP3
NNTP · Telnet · BSD
UDP: NTP, Echo, Daytime…</a:t>
            </a:r>
          </a:p>
        </p:txBody>
      </p:sp>
      <p:sp>
        <p:nvSpPr>
          <p:cNvPr id="11" name="Rectangle 10"/>
          <p:cNvSpPr/>
          <p:nvPr/>
        </p:nvSpPr>
        <p:spPr>
          <a:xfrm>
            <a:off x="8229600" y="1280160"/>
            <a:ext cx="3657600" cy="1371600"/>
          </a:xfrm>
          <a:prstGeom prst="rect">
            <a:avLst/>
          </a:prstGeom>
          <a:solidFill>
            <a:srgbClr val="FFF2CC"/>
          </a:solidFill>
          <a:ln w="9525">
            <a:solidFill>
              <a:srgbClr val="D6B6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353312"/>
            <a:ext cx="3474720" cy="320040"/>
          </a:xfrm>
          <a:prstGeom prst="rect">
            <a:avLst/>
          </a:prstGeom>
          <a:noFill/>
        </p:spPr>
        <p:txBody>
          <a:bodyPr wrap="square">
            <a:spAutoFit/>
          </a:bodyPr>
          <a:lstStyle/>
          <a:p>
            <a:pPr algn="l"/>
            <a:r>
              <a:rPr sz="1300" b="1">
                <a:solidFill>
                  <a:srgbClr val="1F3D6B"/>
                </a:solidFill>
              </a:rPr>
              <a:t>Your Application</a:t>
            </a:r>
          </a:p>
        </p:txBody>
      </p:sp>
      <p:sp>
        <p:nvSpPr>
          <p:cNvPr id="13" name="TextBox 12"/>
          <p:cNvSpPr txBox="1"/>
          <p:nvPr/>
        </p:nvSpPr>
        <p:spPr>
          <a:xfrm>
            <a:off x="8321040" y="1691639"/>
            <a:ext cx="3474720" cy="868680"/>
          </a:xfrm>
          <a:prstGeom prst="rect">
            <a:avLst/>
          </a:prstGeom>
          <a:noFill/>
        </p:spPr>
        <p:txBody>
          <a:bodyPr wrap="square">
            <a:spAutoFit/>
          </a:bodyPr>
          <a:lstStyle/>
          <a:p>
            <a:pPr algn="l"/>
            <a:r>
              <a:rPr sz="1200" b="0">
                <a:solidFill>
                  <a:srgbClr val="333333"/>
                </a:solidFill>
              </a:rPr>
              <a:t>Instantiates and calls
the protocol clients</a:t>
            </a:r>
          </a:p>
        </p:txBody>
      </p:sp>
      <p:sp>
        <p:nvSpPr>
          <p:cNvPr id="14" name="Rectangle 13"/>
          <p:cNvSpPr/>
          <p:nvPr/>
        </p:nvSpPr>
        <p:spPr>
          <a:xfrm>
            <a:off x="274320" y="3017520"/>
            <a:ext cx="3474720" cy="1645920"/>
          </a:xfrm>
          <a:prstGeom prst="rect">
            <a:avLst/>
          </a:prstGeom>
          <a:solidFill>
            <a:srgbClr val="EECCFF"/>
          </a:solidFill>
          <a:ln w="9525">
            <a:solidFill>
              <a:srgbClr val="9955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090672"/>
            <a:ext cx="3291839" cy="320040"/>
          </a:xfrm>
          <a:prstGeom prst="rect">
            <a:avLst/>
          </a:prstGeom>
          <a:noFill/>
        </p:spPr>
        <p:txBody>
          <a:bodyPr wrap="square">
            <a:spAutoFit/>
          </a:bodyPr>
          <a:lstStyle/>
          <a:p>
            <a:pPr algn="l"/>
            <a:r>
              <a:rPr sz="1300" b="1">
                <a:solidFill>
                  <a:srgbClr val="1F3D6B"/>
                </a:solidFill>
              </a:rPr>
              <a:t>FTP Parser Layer</a:t>
            </a:r>
          </a:p>
        </p:txBody>
      </p:sp>
      <p:sp>
        <p:nvSpPr>
          <p:cNvPr id="16" name="TextBox 15"/>
          <p:cNvSpPr txBox="1"/>
          <p:nvPr/>
        </p:nvSpPr>
        <p:spPr>
          <a:xfrm>
            <a:off x="365760" y="3429000"/>
            <a:ext cx="3291839" cy="1143000"/>
          </a:xfrm>
          <a:prstGeom prst="rect">
            <a:avLst/>
          </a:prstGeom>
          <a:noFill/>
        </p:spPr>
        <p:txBody>
          <a:bodyPr wrap="square">
            <a:spAutoFit/>
          </a:bodyPr>
          <a:lstStyle/>
          <a:p>
            <a:pPr algn="l"/>
            <a:r>
              <a:rPr sz="1200" b="0">
                <a:solidFill>
                  <a:srgbClr val="333333"/>
                </a:solidFill>
              </a:rPr>
              <a:t>FTPFileEntryParserFactory
FTPFileEntryParser (interface)
Unix / NT / VMS / OS400 parsers</a:t>
            </a:r>
          </a:p>
        </p:txBody>
      </p:sp>
      <p:sp>
        <p:nvSpPr>
          <p:cNvPr id="17" name="Rectangle 16"/>
          <p:cNvSpPr/>
          <p:nvPr/>
        </p:nvSpPr>
        <p:spPr>
          <a:xfrm>
            <a:off x="4114800" y="3017520"/>
            <a:ext cx="3657600" cy="1645920"/>
          </a:xfrm>
          <a:prstGeom prst="rect">
            <a:avLst/>
          </a:prstGeom>
          <a:solidFill>
            <a:srgbClr val="FFE6CC"/>
          </a:solidFill>
          <a:ln w="9525">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06240" y="3090672"/>
            <a:ext cx="3474720" cy="320040"/>
          </a:xfrm>
          <a:prstGeom prst="rect">
            <a:avLst/>
          </a:prstGeom>
          <a:noFill/>
        </p:spPr>
        <p:txBody>
          <a:bodyPr wrap="square">
            <a:spAutoFit/>
          </a:bodyPr>
          <a:lstStyle/>
          <a:p>
            <a:pPr algn="l"/>
            <a:r>
              <a:rPr sz="1300" b="1">
                <a:solidFill>
                  <a:srgbClr val="1F3D6B"/>
                </a:solidFill>
              </a:rPr>
              <a:t>Event Layer</a:t>
            </a:r>
          </a:p>
        </p:txBody>
      </p:sp>
      <p:sp>
        <p:nvSpPr>
          <p:cNvPr id="19" name="TextBox 18"/>
          <p:cNvSpPr txBox="1"/>
          <p:nvPr/>
        </p:nvSpPr>
        <p:spPr>
          <a:xfrm>
            <a:off x="4206240" y="3429000"/>
            <a:ext cx="3474720" cy="1143000"/>
          </a:xfrm>
          <a:prstGeom prst="rect">
            <a:avLst/>
          </a:prstGeom>
          <a:noFill/>
        </p:spPr>
        <p:txBody>
          <a:bodyPr wrap="square">
            <a:spAutoFit/>
          </a:bodyPr>
          <a:lstStyle/>
          <a:p>
            <a:pPr algn="l"/>
            <a:r>
              <a:rPr sz="1200" b="0">
                <a:solidFill>
                  <a:srgbClr val="333333"/>
                </a:solidFill>
              </a:rPr>
              <a:t>ProtocolCommandSupport
ProtocolCommandListener
PrintCommandListener</a:t>
            </a:r>
          </a:p>
        </p:txBody>
      </p:sp>
      <p:sp>
        <p:nvSpPr>
          <p:cNvPr id="20" name="Rectangle 19"/>
          <p:cNvSpPr/>
          <p:nvPr/>
        </p:nvSpPr>
        <p:spPr>
          <a:xfrm>
            <a:off x="8229600" y="3017520"/>
            <a:ext cx="3657600" cy="1645920"/>
          </a:xfrm>
          <a:prstGeom prst="rect">
            <a:avLst/>
          </a:prstGeom>
          <a:solidFill>
            <a:srgbClr val="CCFFFF"/>
          </a:solidFill>
          <a:ln w="9525">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0" y="3090672"/>
            <a:ext cx="3474720" cy="320040"/>
          </a:xfrm>
          <a:prstGeom prst="rect">
            <a:avLst/>
          </a:prstGeom>
          <a:noFill/>
        </p:spPr>
        <p:txBody>
          <a:bodyPr wrap="square">
            <a:spAutoFit/>
          </a:bodyPr>
          <a:lstStyle/>
          <a:p>
            <a:pPr algn="l"/>
            <a:r>
              <a:rPr sz="1300" b="1">
                <a:solidFill>
                  <a:srgbClr val="1F3D6B"/>
                </a:solidFill>
              </a:rPr>
              <a:t>I/O Utilities</a:t>
            </a:r>
          </a:p>
        </p:txBody>
      </p:sp>
      <p:sp>
        <p:nvSpPr>
          <p:cNvPr id="22" name="TextBox 21"/>
          <p:cNvSpPr txBox="1"/>
          <p:nvPr/>
        </p:nvSpPr>
        <p:spPr>
          <a:xfrm>
            <a:off x="8321040" y="3429000"/>
            <a:ext cx="3474720" cy="1143000"/>
          </a:xfrm>
          <a:prstGeom prst="rect">
            <a:avLst/>
          </a:prstGeom>
          <a:noFill/>
        </p:spPr>
        <p:txBody>
          <a:bodyPr wrap="square">
            <a:spAutoFit/>
          </a:bodyPr>
          <a:lstStyle/>
          <a:p>
            <a:pPr algn="l"/>
            <a:r>
              <a:rPr sz="1200" b="0">
                <a:solidFill>
                  <a:srgbClr val="333333"/>
                </a:solidFill>
              </a:rPr>
              <a:t>NetASCII stream decorators
Socket stream wrappers
Dot-terminated readers/writers
CopyStreamAdapter</a:t>
            </a:r>
          </a:p>
        </p:txBody>
      </p:sp>
      <p:sp>
        <p:nvSpPr>
          <p:cNvPr id="23" name="TextBox 22"/>
          <p:cNvSpPr txBox="1"/>
          <p:nvPr/>
        </p:nvSpPr>
        <p:spPr>
          <a:xfrm>
            <a:off x="274320" y="4846320"/>
            <a:ext cx="11612880" cy="365760"/>
          </a:xfrm>
          <a:prstGeom prst="rect">
            <a:avLst/>
          </a:prstGeom>
          <a:noFill/>
        </p:spPr>
        <p:txBody>
          <a:bodyPr wrap="square">
            <a:spAutoFit/>
          </a:bodyPr>
          <a:lstStyle/>
          <a:p>
            <a:pPr algn="ctr"/>
            <a:r>
              <a:rPr sz="1200" b="0">
                <a:solidFill>
                  <a:srgbClr val="555555"/>
                </a:solidFill>
              </a:rPr>
              <a:t>Arrows: Transport → Protocol Clients → Your App;  Protocol Clients → Parser/Event/IO layers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Concrete Diagram — Namespaces</a:t>
            </a:r>
          </a:p>
        </p:txBody>
      </p:sp>
      <p:sp>
        <p:nvSpPr>
          <p:cNvPr id="4" name="TextBox 3"/>
          <p:cNvSpPr txBox="1"/>
          <p:nvPr/>
        </p:nvSpPr>
        <p:spPr>
          <a:xfrm>
            <a:off x="274320" y="685800"/>
            <a:ext cx="11430000" cy="365760"/>
          </a:xfrm>
          <a:prstGeom prst="rect">
            <a:avLst/>
          </a:prstGeom>
          <a:noFill/>
        </p:spPr>
        <p:txBody>
          <a:bodyPr wrap="square">
            <a:spAutoFit/>
          </a:bodyPr>
          <a:lstStyle/>
          <a:p>
            <a:pPr algn="l"/>
            <a:r>
              <a:rPr sz="1400" b="0">
                <a:solidFill>
                  <a:srgbClr val="BBCCEE"/>
                </a:solidFill>
              </a:rPr>
              <a:t>Key classes per namespace (see concrete-diagram.md for full Mermaid class diagram)</a:t>
            </a:r>
          </a:p>
        </p:txBody>
      </p:sp>
      <p:sp>
        <p:nvSpPr>
          <p:cNvPr id="5" name="Rectangle 4"/>
          <p:cNvSpPr/>
          <p:nvPr/>
        </p:nvSpPr>
        <p:spPr>
          <a:xfrm>
            <a:off x="274320" y="1234440"/>
            <a:ext cx="2743200" cy="1417320"/>
          </a:xfrm>
          <a:prstGeom prst="rect">
            <a:avLst/>
          </a:prstGeom>
          <a:solidFill>
            <a:srgbClr val="DAE8FC"/>
          </a:solidFill>
          <a:ln w="9525">
            <a:solidFill>
              <a:srgbClr val="1F3D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289304"/>
            <a:ext cx="2560320" cy="292608"/>
          </a:xfrm>
          <a:prstGeom prst="rect">
            <a:avLst/>
          </a:prstGeom>
          <a:noFill/>
        </p:spPr>
        <p:txBody>
          <a:bodyPr wrap="square">
            <a:spAutoFit/>
          </a:bodyPr>
          <a:lstStyle/>
          <a:p>
            <a:pPr algn="l"/>
            <a:r>
              <a:rPr sz="1200" b="1">
                <a:solidFill>
                  <a:srgbClr val="1F3D6B"/>
                </a:solidFill>
              </a:rPr>
              <a:t>Transport</a:t>
            </a:r>
          </a:p>
        </p:txBody>
      </p:sp>
      <p:sp>
        <p:nvSpPr>
          <p:cNvPr id="7" name="TextBox 6"/>
          <p:cNvSpPr txBox="1"/>
          <p:nvPr/>
        </p:nvSpPr>
        <p:spPr>
          <a:xfrm>
            <a:off x="365760" y="1600200"/>
            <a:ext cx="2560320" cy="1005840"/>
          </a:xfrm>
          <a:prstGeom prst="rect">
            <a:avLst/>
          </a:prstGeom>
          <a:noFill/>
        </p:spPr>
        <p:txBody>
          <a:bodyPr wrap="square">
            <a:spAutoFit/>
          </a:bodyPr>
          <a:lstStyle/>
          <a:p>
            <a:pPr algn="l"/>
            <a:r>
              <a:rPr sz="1000" b="0">
                <a:solidFill>
                  <a:srgbClr val="333333"/>
                </a:solidFill>
              </a:rPr>
              <a:t>SocketClient (abstract)
DatagramSocketClient (abstract)</a:t>
            </a:r>
          </a:p>
        </p:txBody>
      </p:sp>
      <p:sp>
        <p:nvSpPr>
          <p:cNvPr id="8" name="Rectangle 7"/>
          <p:cNvSpPr/>
          <p:nvPr/>
        </p:nvSpPr>
        <p:spPr>
          <a:xfrm>
            <a:off x="3154680" y="1234440"/>
            <a:ext cx="2743200" cy="1417320"/>
          </a:xfrm>
          <a:prstGeom prst="rect">
            <a:avLst/>
          </a:prstGeom>
          <a:solidFill>
            <a:srgbClr val="D5E8D4"/>
          </a:solidFill>
          <a:ln w="9525">
            <a:solidFill>
              <a:srgbClr val="1F3D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46120" y="1289304"/>
            <a:ext cx="2560320" cy="292608"/>
          </a:xfrm>
          <a:prstGeom prst="rect">
            <a:avLst/>
          </a:prstGeom>
          <a:noFill/>
        </p:spPr>
        <p:txBody>
          <a:bodyPr wrap="square">
            <a:spAutoFit/>
          </a:bodyPr>
          <a:lstStyle/>
          <a:p>
            <a:pPr algn="l"/>
            <a:r>
              <a:rPr sz="1200" b="1">
                <a:solidFill>
                  <a:srgbClr val="1F3D6B"/>
                </a:solidFill>
              </a:rPr>
              <a:t>FTP Stack</a:t>
            </a:r>
          </a:p>
        </p:txBody>
      </p:sp>
      <p:sp>
        <p:nvSpPr>
          <p:cNvPr id="10" name="TextBox 9"/>
          <p:cNvSpPr txBox="1"/>
          <p:nvPr/>
        </p:nvSpPr>
        <p:spPr>
          <a:xfrm>
            <a:off x="3246120" y="1600200"/>
            <a:ext cx="2560320" cy="1005840"/>
          </a:xfrm>
          <a:prstGeom prst="rect">
            <a:avLst/>
          </a:prstGeom>
          <a:noFill/>
        </p:spPr>
        <p:txBody>
          <a:bodyPr wrap="square">
            <a:spAutoFit/>
          </a:bodyPr>
          <a:lstStyle/>
          <a:p>
            <a:pPr algn="l"/>
            <a:r>
              <a:rPr sz="1000" b="0">
                <a:solidFill>
                  <a:srgbClr val="333333"/>
                </a:solidFill>
              </a:rPr>
              <a:t>FTP → FTPClient → FTPSClient
FTPHTTPClient</a:t>
            </a:r>
          </a:p>
        </p:txBody>
      </p:sp>
      <p:sp>
        <p:nvSpPr>
          <p:cNvPr id="11" name="Rectangle 10"/>
          <p:cNvSpPr/>
          <p:nvPr/>
        </p:nvSpPr>
        <p:spPr>
          <a:xfrm>
            <a:off x="6035040" y="1234440"/>
            <a:ext cx="2743200" cy="1417320"/>
          </a:xfrm>
          <a:prstGeom prst="rect">
            <a:avLst/>
          </a:prstGeom>
          <a:solidFill>
            <a:srgbClr val="EECCFF"/>
          </a:solidFill>
          <a:ln w="9525">
            <a:solidFill>
              <a:srgbClr val="1F3D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79" y="1289304"/>
            <a:ext cx="2560320" cy="292608"/>
          </a:xfrm>
          <a:prstGeom prst="rect">
            <a:avLst/>
          </a:prstGeom>
          <a:noFill/>
        </p:spPr>
        <p:txBody>
          <a:bodyPr wrap="square">
            <a:spAutoFit/>
          </a:bodyPr>
          <a:lstStyle/>
          <a:p>
            <a:pPr algn="l"/>
            <a:r>
              <a:rPr sz="1200" b="1">
                <a:solidFill>
                  <a:srgbClr val="1F3D6B"/>
                </a:solidFill>
              </a:rPr>
              <a:t>FTP Parsers</a:t>
            </a:r>
          </a:p>
        </p:txBody>
      </p:sp>
      <p:sp>
        <p:nvSpPr>
          <p:cNvPr id="13" name="TextBox 12"/>
          <p:cNvSpPr txBox="1"/>
          <p:nvPr/>
        </p:nvSpPr>
        <p:spPr>
          <a:xfrm>
            <a:off x="6126479" y="1600200"/>
            <a:ext cx="2560320" cy="1005840"/>
          </a:xfrm>
          <a:prstGeom prst="rect">
            <a:avLst/>
          </a:prstGeom>
          <a:noFill/>
        </p:spPr>
        <p:txBody>
          <a:bodyPr wrap="square">
            <a:spAutoFit/>
          </a:bodyPr>
          <a:lstStyle/>
          <a:p>
            <a:pPr algn="l"/>
            <a:r>
              <a:rPr sz="1000" b="0">
                <a:solidFill>
                  <a:srgbClr val="333333"/>
                </a:solidFill>
              </a:rPr>
              <a:t>FTPFileEntryParser (iface)
FTPFileEntryParserFactory (iface)
DefaultFTPFileEntryParserFactory
CompositeFileEntryParser
Unix/NT/VMS/OS400/MVS parsers</a:t>
            </a:r>
          </a:p>
        </p:txBody>
      </p:sp>
      <p:sp>
        <p:nvSpPr>
          <p:cNvPr id="14" name="Rectangle 13"/>
          <p:cNvSpPr/>
          <p:nvPr/>
        </p:nvSpPr>
        <p:spPr>
          <a:xfrm>
            <a:off x="8915400" y="1234440"/>
            <a:ext cx="2743200" cy="1417320"/>
          </a:xfrm>
          <a:prstGeom prst="rect">
            <a:avLst/>
          </a:prstGeom>
          <a:solidFill>
            <a:srgbClr val="FFF2CC"/>
          </a:solidFill>
          <a:ln w="9525">
            <a:solidFill>
              <a:srgbClr val="1F3D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06840" y="1289304"/>
            <a:ext cx="2560320" cy="292608"/>
          </a:xfrm>
          <a:prstGeom prst="rect">
            <a:avLst/>
          </a:prstGeom>
          <a:noFill/>
        </p:spPr>
        <p:txBody>
          <a:bodyPr wrap="square">
            <a:spAutoFit/>
          </a:bodyPr>
          <a:lstStyle/>
          <a:p>
            <a:pPr algn="l"/>
            <a:r>
              <a:rPr sz="1200" b="1">
                <a:solidFill>
                  <a:srgbClr val="1F3D6B"/>
                </a:solidFill>
              </a:rPr>
              <a:t>SMTP Stack</a:t>
            </a:r>
          </a:p>
        </p:txBody>
      </p:sp>
      <p:sp>
        <p:nvSpPr>
          <p:cNvPr id="16" name="TextBox 15"/>
          <p:cNvSpPr txBox="1"/>
          <p:nvPr/>
        </p:nvSpPr>
        <p:spPr>
          <a:xfrm>
            <a:off x="9006840" y="1600200"/>
            <a:ext cx="2560320" cy="1005840"/>
          </a:xfrm>
          <a:prstGeom prst="rect">
            <a:avLst/>
          </a:prstGeom>
          <a:noFill/>
        </p:spPr>
        <p:txBody>
          <a:bodyPr wrap="square">
            <a:spAutoFit/>
          </a:bodyPr>
          <a:lstStyle/>
          <a:p>
            <a:pPr algn="l"/>
            <a:r>
              <a:rPr sz="1000" b="0">
                <a:solidFill>
                  <a:srgbClr val="333333"/>
                </a:solidFill>
              </a:rPr>
              <a:t>SMTP → SMTPClient → SMTPSClient</a:t>
            </a:r>
          </a:p>
        </p:txBody>
      </p:sp>
      <p:sp>
        <p:nvSpPr>
          <p:cNvPr id="17" name="Rectangle 16"/>
          <p:cNvSpPr/>
          <p:nvPr/>
        </p:nvSpPr>
        <p:spPr>
          <a:xfrm>
            <a:off x="274320" y="2788920"/>
            <a:ext cx="2743200" cy="1417320"/>
          </a:xfrm>
          <a:prstGeom prst="rect">
            <a:avLst/>
          </a:prstGeom>
          <a:solidFill>
            <a:srgbClr val="FFF2CC"/>
          </a:solidFill>
          <a:ln w="9525">
            <a:solidFill>
              <a:srgbClr val="1F3D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2843784"/>
            <a:ext cx="2560320" cy="292608"/>
          </a:xfrm>
          <a:prstGeom prst="rect">
            <a:avLst/>
          </a:prstGeom>
          <a:noFill/>
        </p:spPr>
        <p:txBody>
          <a:bodyPr wrap="square">
            <a:spAutoFit/>
          </a:bodyPr>
          <a:lstStyle/>
          <a:p>
            <a:pPr algn="l"/>
            <a:r>
              <a:rPr sz="1200" b="1">
                <a:solidFill>
                  <a:srgbClr val="1F3D6B"/>
                </a:solidFill>
              </a:rPr>
              <a:t>IMAP Stack</a:t>
            </a:r>
          </a:p>
        </p:txBody>
      </p:sp>
      <p:sp>
        <p:nvSpPr>
          <p:cNvPr id="19" name="TextBox 18"/>
          <p:cNvSpPr txBox="1"/>
          <p:nvPr/>
        </p:nvSpPr>
        <p:spPr>
          <a:xfrm>
            <a:off x="365760" y="3154679"/>
            <a:ext cx="2560320" cy="1005840"/>
          </a:xfrm>
          <a:prstGeom prst="rect">
            <a:avLst/>
          </a:prstGeom>
          <a:noFill/>
        </p:spPr>
        <p:txBody>
          <a:bodyPr wrap="square">
            <a:spAutoFit/>
          </a:bodyPr>
          <a:lstStyle/>
          <a:p>
            <a:pPr algn="l"/>
            <a:r>
              <a:rPr sz="1000" b="0">
                <a:solidFill>
                  <a:srgbClr val="333333"/>
                </a:solidFill>
              </a:rPr>
              <a:t>IMAP → IMAPClient → IMAPSClient</a:t>
            </a:r>
          </a:p>
        </p:txBody>
      </p:sp>
      <p:sp>
        <p:nvSpPr>
          <p:cNvPr id="20" name="Rectangle 19"/>
          <p:cNvSpPr/>
          <p:nvPr/>
        </p:nvSpPr>
        <p:spPr>
          <a:xfrm>
            <a:off x="3154680" y="2788920"/>
            <a:ext cx="2743200" cy="1417320"/>
          </a:xfrm>
          <a:prstGeom prst="rect">
            <a:avLst/>
          </a:prstGeom>
          <a:solidFill>
            <a:srgbClr val="FFF2CC"/>
          </a:solidFill>
          <a:ln w="9525">
            <a:solidFill>
              <a:srgbClr val="1F3D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6120" y="2843784"/>
            <a:ext cx="2560320" cy="292608"/>
          </a:xfrm>
          <a:prstGeom prst="rect">
            <a:avLst/>
          </a:prstGeom>
          <a:noFill/>
        </p:spPr>
        <p:txBody>
          <a:bodyPr wrap="square">
            <a:spAutoFit/>
          </a:bodyPr>
          <a:lstStyle/>
          <a:p>
            <a:pPr algn="l"/>
            <a:r>
              <a:rPr sz="1200" b="1">
                <a:solidFill>
                  <a:srgbClr val="1F3D6B"/>
                </a:solidFill>
              </a:rPr>
              <a:t>NNTP Stack</a:t>
            </a:r>
          </a:p>
        </p:txBody>
      </p:sp>
      <p:sp>
        <p:nvSpPr>
          <p:cNvPr id="22" name="TextBox 21"/>
          <p:cNvSpPr txBox="1"/>
          <p:nvPr/>
        </p:nvSpPr>
        <p:spPr>
          <a:xfrm>
            <a:off x="3246120" y="3154679"/>
            <a:ext cx="2560320" cy="1005840"/>
          </a:xfrm>
          <a:prstGeom prst="rect">
            <a:avLst/>
          </a:prstGeom>
          <a:noFill/>
        </p:spPr>
        <p:txBody>
          <a:bodyPr wrap="square">
            <a:spAutoFit/>
          </a:bodyPr>
          <a:lstStyle/>
          <a:p>
            <a:pPr algn="l"/>
            <a:r>
              <a:rPr sz="1000" b="0">
                <a:solidFill>
                  <a:srgbClr val="333333"/>
                </a:solidFill>
              </a:rPr>
              <a:t>NNTP → NNTPClient</a:t>
            </a:r>
          </a:p>
        </p:txBody>
      </p:sp>
      <p:sp>
        <p:nvSpPr>
          <p:cNvPr id="23" name="Rectangle 22"/>
          <p:cNvSpPr/>
          <p:nvPr/>
        </p:nvSpPr>
        <p:spPr>
          <a:xfrm>
            <a:off x="6035040" y="2788920"/>
            <a:ext cx="2743200" cy="1417320"/>
          </a:xfrm>
          <a:prstGeom prst="rect">
            <a:avLst/>
          </a:prstGeom>
          <a:solidFill>
            <a:srgbClr val="FFF2CC"/>
          </a:solidFill>
          <a:ln w="9525">
            <a:solidFill>
              <a:srgbClr val="1F3D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26479" y="2843784"/>
            <a:ext cx="2560320" cy="292608"/>
          </a:xfrm>
          <a:prstGeom prst="rect">
            <a:avLst/>
          </a:prstGeom>
          <a:noFill/>
        </p:spPr>
        <p:txBody>
          <a:bodyPr wrap="square">
            <a:spAutoFit/>
          </a:bodyPr>
          <a:lstStyle/>
          <a:p>
            <a:pPr algn="l"/>
            <a:r>
              <a:rPr sz="1200" b="1">
                <a:solidFill>
                  <a:srgbClr val="1F3D6B"/>
                </a:solidFill>
              </a:rPr>
              <a:t>Telnet Stack</a:t>
            </a:r>
          </a:p>
        </p:txBody>
      </p:sp>
      <p:sp>
        <p:nvSpPr>
          <p:cNvPr id="25" name="TextBox 24"/>
          <p:cNvSpPr txBox="1"/>
          <p:nvPr/>
        </p:nvSpPr>
        <p:spPr>
          <a:xfrm>
            <a:off x="6126479" y="3154679"/>
            <a:ext cx="2560320" cy="1005840"/>
          </a:xfrm>
          <a:prstGeom prst="rect">
            <a:avLst/>
          </a:prstGeom>
          <a:noFill/>
        </p:spPr>
        <p:txBody>
          <a:bodyPr wrap="square">
            <a:spAutoFit/>
          </a:bodyPr>
          <a:lstStyle/>
          <a:p>
            <a:pPr algn="l"/>
            <a:r>
              <a:rPr sz="1000" b="0">
                <a:solidFill>
                  <a:srgbClr val="333333"/>
                </a:solidFill>
              </a:rPr>
              <a:t>Telnet → TelnetClient</a:t>
            </a:r>
          </a:p>
        </p:txBody>
      </p:sp>
      <p:sp>
        <p:nvSpPr>
          <p:cNvPr id="26" name="Rectangle 25"/>
          <p:cNvSpPr/>
          <p:nvPr/>
        </p:nvSpPr>
        <p:spPr>
          <a:xfrm>
            <a:off x="8915400" y="2788920"/>
            <a:ext cx="2743200" cy="1417320"/>
          </a:xfrm>
          <a:prstGeom prst="rect">
            <a:avLst/>
          </a:prstGeom>
          <a:solidFill>
            <a:srgbClr val="F8CECC"/>
          </a:solidFill>
          <a:ln w="9525">
            <a:solidFill>
              <a:srgbClr val="1F3D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06840" y="2843784"/>
            <a:ext cx="2560320" cy="292608"/>
          </a:xfrm>
          <a:prstGeom prst="rect">
            <a:avLst/>
          </a:prstGeom>
          <a:noFill/>
        </p:spPr>
        <p:txBody>
          <a:bodyPr wrap="square">
            <a:spAutoFit/>
          </a:bodyPr>
          <a:lstStyle/>
          <a:p>
            <a:pPr algn="l"/>
            <a:r>
              <a:rPr sz="1200" b="1">
                <a:solidFill>
                  <a:srgbClr val="1F3D6B"/>
                </a:solidFill>
              </a:rPr>
              <a:t>BSD Commands</a:t>
            </a:r>
          </a:p>
        </p:txBody>
      </p:sp>
      <p:sp>
        <p:nvSpPr>
          <p:cNvPr id="28" name="TextBox 27"/>
          <p:cNvSpPr txBox="1"/>
          <p:nvPr/>
        </p:nvSpPr>
        <p:spPr>
          <a:xfrm>
            <a:off x="9006840" y="3154679"/>
            <a:ext cx="2560320" cy="1005840"/>
          </a:xfrm>
          <a:prstGeom prst="rect">
            <a:avLst/>
          </a:prstGeom>
          <a:noFill/>
        </p:spPr>
        <p:txBody>
          <a:bodyPr wrap="square">
            <a:spAutoFit/>
          </a:bodyPr>
          <a:lstStyle/>
          <a:p>
            <a:pPr algn="l"/>
            <a:r>
              <a:rPr sz="1000" b="0">
                <a:solidFill>
                  <a:srgbClr val="333333"/>
                </a:solidFill>
              </a:rPr>
              <a:t>RExecClient → RLoginClient
RExecClient → RCommandClient</a:t>
            </a:r>
          </a:p>
        </p:txBody>
      </p:sp>
      <p:sp>
        <p:nvSpPr>
          <p:cNvPr id="29" name="Rectangle 28"/>
          <p:cNvSpPr/>
          <p:nvPr/>
        </p:nvSpPr>
        <p:spPr>
          <a:xfrm>
            <a:off x="274320" y="4343400"/>
            <a:ext cx="2743200" cy="1417320"/>
          </a:xfrm>
          <a:prstGeom prst="rect">
            <a:avLst/>
          </a:prstGeom>
          <a:solidFill>
            <a:srgbClr val="DAE8FC"/>
          </a:solidFill>
          <a:ln w="9525">
            <a:solidFill>
              <a:srgbClr val="1F3D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4398264"/>
            <a:ext cx="2560320" cy="292608"/>
          </a:xfrm>
          <a:prstGeom prst="rect">
            <a:avLst/>
          </a:prstGeom>
          <a:noFill/>
        </p:spPr>
        <p:txBody>
          <a:bodyPr wrap="square">
            <a:spAutoFit/>
          </a:bodyPr>
          <a:lstStyle/>
          <a:p>
            <a:pPr algn="l"/>
            <a:r>
              <a:rPr sz="1200" b="1">
                <a:solidFill>
                  <a:srgbClr val="1F3D6B"/>
                </a:solidFill>
              </a:rPr>
              <a:t>UDP Clients</a:t>
            </a:r>
          </a:p>
        </p:txBody>
      </p:sp>
      <p:sp>
        <p:nvSpPr>
          <p:cNvPr id="31" name="TextBox 30"/>
          <p:cNvSpPr txBox="1"/>
          <p:nvPr/>
        </p:nvSpPr>
        <p:spPr>
          <a:xfrm>
            <a:off x="365760" y="4709160"/>
            <a:ext cx="2560320" cy="1005840"/>
          </a:xfrm>
          <a:prstGeom prst="rect">
            <a:avLst/>
          </a:prstGeom>
          <a:noFill/>
        </p:spPr>
        <p:txBody>
          <a:bodyPr wrap="square">
            <a:spAutoFit/>
          </a:bodyPr>
          <a:lstStyle/>
          <a:p>
            <a:pPr algn="l"/>
            <a:r>
              <a:rPr sz="1000" b="0">
                <a:solidFill>
                  <a:srgbClr val="333333"/>
                </a:solidFill>
              </a:rPr>
              <a:t>NTPUDPClient, EchoUDPClient
DaytimeUDPClient, CharGenUDPClient</a:t>
            </a:r>
          </a:p>
        </p:txBody>
      </p:sp>
      <p:sp>
        <p:nvSpPr>
          <p:cNvPr id="32" name="Rectangle 31"/>
          <p:cNvSpPr/>
          <p:nvPr/>
        </p:nvSpPr>
        <p:spPr>
          <a:xfrm>
            <a:off x="3154680" y="4343400"/>
            <a:ext cx="2743200" cy="1417320"/>
          </a:xfrm>
          <a:prstGeom prst="rect">
            <a:avLst/>
          </a:prstGeom>
          <a:solidFill>
            <a:srgbClr val="FFE6CC"/>
          </a:solidFill>
          <a:ln w="9525">
            <a:solidFill>
              <a:srgbClr val="1F3D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46120" y="4398264"/>
            <a:ext cx="2560320" cy="292608"/>
          </a:xfrm>
          <a:prstGeom prst="rect">
            <a:avLst/>
          </a:prstGeom>
          <a:noFill/>
        </p:spPr>
        <p:txBody>
          <a:bodyPr wrap="square">
            <a:spAutoFit/>
          </a:bodyPr>
          <a:lstStyle/>
          <a:p>
            <a:pPr algn="l"/>
            <a:r>
              <a:rPr sz="1200" b="1">
                <a:solidFill>
                  <a:srgbClr val="1F3D6B"/>
                </a:solidFill>
              </a:rPr>
              <a:t>Observer Events</a:t>
            </a:r>
          </a:p>
        </p:txBody>
      </p:sp>
      <p:sp>
        <p:nvSpPr>
          <p:cNvPr id="34" name="TextBox 33"/>
          <p:cNvSpPr txBox="1"/>
          <p:nvPr/>
        </p:nvSpPr>
        <p:spPr>
          <a:xfrm>
            <a:off x="3246120" y="4709160"/>
            <a:ext cx="2560320" cy="1005840"/>
          </a:xfrm>
          <a:prstGeom prst="rect">
            <a:avLst/>
          </a:prstGeom>
          <a:noFill/>
        </p:spPr>
        <p:txBody>
          <a:bodyPr wrap="square">
            <a:spAutoFit/>
          </a:bodyPr>
          <a:lstStyle/>
          <a:p>
            <a:pPr algn="l"/>
            <a:r>
              <a:rPr sz="1000" b="0">
                <a:solidFill>
                  <a:srgbClr val="333333"/>
                </a:solidFill>
              </a:rPr>
              <a:t>ProtocolCommandSupport
ProtocolCommandListener (iface)
PrintCommandListener</a:t>
            </a:r>
          </a:p>
        </p:txBody>
      </p:sp>
      <p:sp>
        <p:nvSpPr>
          <p:cNvPr id="35" name="Rectangle 34"/>
          <p:cNvSpPr/>
          <p:nvPr/>
        </p:nvSpPr>
        <p:spPr>
          <a:xfrm>
            <a:off x="6035040" y="4343400"/>
            <a:ext cx="2743200" cy="1417320"/>
          </a:xfrm>
          <a:prstGeom prst="rect">
            <a:avLst/>
          </a:prstGeom>
          <a:solidFill>
            <a:srgbClr val="CCFFFF"/>
          </a:solidFill>
          <a:ln w="9525">
            <a:solidFill>
              <a:srgbClr val="1F3D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26479" y="4398264"/>
            <a:ext cx="2560320" cy="292608"/>
          </a:xfrm>
          <a:prstGeom prst="rect">
            <a:avLst/>
          </a:prstGeom>
          <a:noFill/>
        </p:spPr>
        <p:txBody>
          <a:bodyPr wrap="square">
            <a:spAutoFit/>
          </a:bodyPr>
          <a:lstStyle/>
          <a:p>
            <a:pPr algn="l"/>
            <a:r>
              <a:rPr sz="1200" b="1">
                <a:solidFill>
                  <a:srgbClr val="1F3D6B"/>
                </a:solidFill>
              </a:rPr>
              <a:t>I/O Utilities</a:t>
            </a:r>
          </a:p>
        </p:txBody>
      </p:sp>
      <p:sp>
        <p:nvSpPr>
          <p:cNvPr id="37" name="TextBox 36"/>
          <p:cNvSpPr txBox="1"/>
          <p:nvPr/>
        </p:nvSpPr>
        <p:spPr>
          <a:xfrm>
            <a:off x="6126479" y="4709160"/>
            <a:ext cx="2560320" cy="1005840"/>
          </a:xfrm>
          <a:prstGeom prst="rect">
            <a:avLst/>
          </a:prstGeom>
          <a:noFill/>
        </p:spPr>
        <p:txBody>
          <a:bodyPr wrap="square">
            <a:spAutoFit/>
          </a:bodyPr>
          <a:lstStyle/>
          <a:p>
            <a:pPr algn="l"/>
            <a:r>
              <a:rPr sz="1000" b="0">
                <a:solidFill>
                  <a:srgbClr val="333333"/>
                </a:solidFill>
              </a:rPr>
              <a:t>CopyStreamListener (iface)
CopyStreamAdapter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Design Patterns — Overview</a:t>
            </a:r>
          </a:p>
        </p:txBody>
      </p:sp>
      <p:sp>
        <p:nvSpPr>
          <p:cNvPr id="4" name="TextBox 3"/>
          <p:cNvSpPr txBox="1"/>
          <p:nvPr/>
        </p:nvSpPr>
        <p:spPr>
          <a:xfrm>
            <a:off x="274320" y="685800"/>
            <a:ext cx="11430000" cy="365760"/>
          </a:xfrm>
          <a:prstGeom prst="rect">
            <a:avLst/>
          </a:prstGeom>
          <a:noFill/>
        </p:spPr>
        <p:txBody>
          <a:bodyPr wrap="square">
            <a:spAutoFit/>
          </a:bodyPr>
          <a:lstStyle/>
          <a:p>
            <a:pPr algn="l"/>
            <a:r>
              <a:rPr sz="1400" b="0">
                <a:solidFill>
                  <a:srgbClr val="BBCCEE"/>
                </a:solidFill>
              </a:rPr>
              <a:t>10 patterns identified in the original codebase</a:t>
            </a:r>
          </a:p>
        </p:txBody>
      </p:sp>
      <p:sp>
        <p:nvSpPr>
          <p:cNvPr id="5" name="Rectangle 4"/>
          <p:cNvSpPr/>
          <p:nvPr/>
        </p:nvSpPr>
        <p:spPr>
          <a:xfrm>
            <a:off x="365760" y="1280160"/>
            <a:ext cx="11430000" cy="932688"/>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25880"/>
            <a:ext cx="11247120" cy="320040"/>
          </a:xfrm>
          <a:prstGeom prst="rect">
            <a:avLst/>
          </a:prstGeom>
          <a:noFill/>
        </p:spPr>
        <p:txBody>
          <a:bodyPr wrap="square">
            <a:spAutoFit/>
          </a:bodyPr>
          <a:lstStyle/>
          <a:p>
            <a:pPr algn="l"/>
            <a:r>
              <a:rPr sz="1500" b="1">
                <a:solidFill>
                  <a:srgbClr val="1F3D6B"/>
                </a:solidFill>
              </a:rPr>
              <a:t>Creational</a:t>
            </a:r>
          </a:p>
        </p:txBody>
      </p:sp>
      <p:sp>
        <p:nvSpPr>
          <p:cNvPr id="7" name="TextBox 6"/>
          <p:cNvSpPr txBox="1"/>
          <p:nvPr/>
        </p:nvSpPr>
        <p:spPr>
          <a:xfrm>
            <a:off x="457200" y="1673352"/>
            <a:ext cx="11247120" cy="292608"/>
          </a:xfrm>
          <a:prstGeom prst="rect">
            <a:avLst/>
          </a:prstGeom>
          <a:noFill/>
        </p:spPr>
        <p:txBody>
          <a:bodyPr wrap="square">
            <a:spAutoFit/>
          </a:bodyPr>
          <a:lstStyle/>
          <a:p>
            <a:pPr algn="l"/>
            <a:r>
              <a:rPr sz="1400" b="0">
                <a:solidFill>
                  <a:srgbClr val="333333"/>
                </a:solidFill>
              </a:rPr>
              <a:t>• Factory — DefaultFTPFileEntryParserFactory</a:t>
            </a:r>
          </a:p>
        </p:txBody>
      </p:sp>
      <p:sp>
        <p:nvSpPr>
          <p:cNvPr id="8" name="TextBox 7"/>
          <p:cNvSpPr txBox="1"/>
          <p:nvPr/>
        </p:nvSpPr>
        <p:spPr>
          <a:xfrm>
            <a:off x="457200" y="1929384"/>
            <a:ext cx="11247120" cy="292608"/>
          </a:xfrm>
          <a:prstGeom prst="rect">
            <a:avLst/>
          </a:prstGeom>
          <a:noFill/>
        </p:spPr>
        <p:txBody>
          <a:bodyPr wrap="square">
            <a:spAutoFit/>
          </a:bodyPr>
          <a:lstStyle/>
          <a:p>
            <a:pPr algn="l"/>
            <a:r>
              <a:rPr sz="1400" b="0">
                <a:solidFill>
                  <a:srgbClr val="333333"/>
                </a:solidFill>
              </a:rPr>
              <a:t>• Abstract Factory — FTPFileEntryParserFactory (interface)</a:t>
            </a:r>
          </a:p>
        </p:txBody>
      </p:sp>
      <p:sp>
        <p:nvSpPr>
          <p:cNvPr id="9" name="Rectangle 8"/>
          <p:cNvSpPr/>
          <p:nvPr/>
        </p:nvSpPr>
        <p:spPr>
          <a:xfrm>
            <a:off x="365760" y="2286000"/>
            <a:ext cx="11430000" cy="1517904"/>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331720"/>
            <a:ext cx="11247120" cy="320040"/>
          </a:xfrm>
          <a:prstGeom prst="rect">
            <a:avLst/>
          </a:prstGeom>
          <a:noFill/>
        </p:spPr>
        <p:txBody>
          <a:bodyPr wrap="square">
            <a:spAutoFit/>
          </a:bodyPr>
          <a:lstStyle/>
          <a:p>
            <a:pPr algn="l"/>
            <a:r>
              <a:rPr sz="1500" b="1">
                <a:solidFill>
                  <a:srgbClr val="1F3D6B"/>
                </a:solidFill>
              </a:rPr>
              <a:t>Structural</a:t>
            </a:r>
          </a:p>
        </p:txBody>
      </p:sp>
      <p:sp>
        <p:nvSpPr>
          <p:cNvPr id="11" name="TextBox 10"/>
          <p:cNvSpPr txBox="1"/>
          <p:nvPr/>
        </p:nvSpPr>
        <p:spPr>
          <a:xfrm>
            <a:off x="457200" y="2679191"/>
            <a:ext cx="11247120" cy="292608"/>
          </a:xfrm>
          <a:prstGeom prst="rect">
            <a:avLst/>
          </a:prstGeom>
          <a:noFill/>
        </p:spPr>
        <p:txBody>
          <a:bodyPr wrap="square">
            <a:spAutoFit/>
          </a:bodyPr>
          <a:lstStyle/>
          <a:p>
            <a:pPr algn="l"/>
            <a:r>
              <a:rPr sz="1400" b="0">
                <a:solidFill>
                  <a:srgbClr val="333333"/>
                </a:solidFill>
              </a:rPr>
              <a:t>• Adapter — CopyStreamAdapter</a:t>
            </a:r>
          </a:p>
        </p:txBody>
      </p:sp>
      <p:sp>
        <p:nvSpPr>
          <p:cNvPr id="12" name="TextBox 11"/>
          <p:cNvSpPr txBox="1"/>
          <p:nvPr/>
        </p:nvSpPr>
        <p:spPr>
          <a:xfrm>
            <a:off x="457200" y="2935224"/>
            <a:ext cx="11247120" cy="292608"/>
          </a:xfrm>
          <a:prstGeom prst="rect">
            <a:avLst/>
          </a:prstGeom>
          <a:noFill/>
        </p:spPr>
        <p:txBody>
          <a:bodyPr wrap="square">
            <a:spAutoFit/>
          </a:bodyPr>
          <a:lstStyle/>
          <a:p>
            <a:pPr algn="l"/>
            <a:r>
              <a:rPr sz="1400" b="0">
                <a:solidFill>
                  <a:srgbClr val="333333"/>
                </a:solidFill>
              </a:rPr>
              <a:t>• Facade — FTPClient over FTP command layer</a:t>
            </a:r>
          </a:p>
        </p:txBody>
      </p:sp>
      <p:sp>
        <p:nvSpPr>
          <p:cNvPr id="13" name="TextBox 12"/>
          <p:cNvSpPr txBox="1"/>
          <p:nvPr/>
        </p:nvSpPr>
        <p:spPr>
          <a:xfrm>
            <a:off x="457200" y="3191256"/>
            <a:ext cx="11247120" cy="292608"/>
          </a:xfrm>
          <a:prstGeom prst="rect">
            <a:avLst/>
          </a:prstGeom>
          <a:noFill/>
        </p:spPr>
        <p:txBody>
          <a:bodyPr wrap="square">
            <a:spAutoFit/>
          </a:bodyPr>
          <a:lstStyle/>
          <a:p>
            <a:pPr algn="l"/>
            <a:r>
              <a:rPr sz="1400" b="0">
                <a:solidFill>
                  <a:srgbClr val="333333"/>
                </a:solidFill>
              </a:rPr>
              <a:t>• Composite — CompositeFileEntryParser</a:t>
            </a:r>
          </a:p>
        </p:txBody>
      </p:sp>
      <p:sp>
        <p:nvSpPr>
          <p:cNvPr id="14" name="TextBox 13"/>
          <p:cNvSpPr txBox="1"/>
          <p:nvPr/>
        </p:nvSpPr>
        <p:spPr>
          <a:xfrm>
            <a:off x="457200" y="3447288"/>
            <a:ext cx="11247120" cy="292608"/>
          </a:xfrm>
          <a:prstGeom prst="rect">
            <a:avLst/>
          </a:prstGeom>
          <a:noFill/>
        </p:spPr>
        <p:txBody>
          <a:bodyPr wrap="square">
            <a:spAutoFit/>
          </a:bodyPr>
          <a:lstStyle/>
          <a:p>
            <a:pPr algn="l"/>
            <a:r>
              <a:rPr sz="1400" b="0">
                <a:solidFill>
                  <a:srgbClr val="333333"/>
                </a:solidFill>
              </a:rPr>
              <a:t>• Decorator — NetASCII &amp; Socket stream wrappers</a:t>
            </a:r>
          </a:p>
        </p:txBody>
      </p:sp>
      <p:sp>
        <p:nvSpPr>
          <p:cNvPr id="15" name="Rectangle 14"/>
          <p:cNvSpPr/>
          <p:nvPr/>
        </p:nvSpPr>
        <p:spPr>
          <a:xfrm>
            <a:off x="365760" y="3566160"/>
            <a:ext cx="11430000" cy="1517904"/>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611879"/>
            <a:ext cx="11247120" cy="320040"/>
          </a:xfrm>
          <a:prstGeom prst="rect">
            <a:avLst/>
          </a:prstGeom>
          <a:noFill/>
        </p:spPr>
        <p:txBody>
          <a:bodyPr wrap="square">
            <a:spAutoFit/>
          </a:bodyPr>
          <a:lstStyle/>
          <a:p>
            <a:pPr algn="l"/>
            <a:r>
              <a:rPr sz="1500" b="1">
                <a:solidFill>
                  <a:srgbClr val="1F3D6B"/>
                </a:solidFill>
              </a:rPr>
              <a:t>Behavioral</a:t>
            </a:r>
          </a:p>
        </p:txBody>
      </p:sp>
      <p:sp>
        <p:nvSpPr>
          <p:cNvPr id="17" name="TextBox 16"/>
          <p:cNvSpPr txBox="1"/>
          <p:nvPr/>
        </p:nvSpPr>
        <p:spPr>
          <a:xfrm>
            <a:off x="457200" y="3959352"/>
            <a:ext cx="11247120" cy="292608"/>
          </a:xfrm>
          <a:prstGeom prst="rect">
            <a:avLst/>
          </a:prstGeom>
          <a:noFill/>
        </p:spPr>
        <p:txBody>
          <a:bodyPr wrap="square">
            <a:spAutoFit/>
          </a:bodyPr>
          <a:lstStyle/>
          <a:p>
            <a:pPr algn="l"/>
            <a:r>
              <a:rPr sz="1400" b="0">
                <a:solidFill>
                  <a:srgbClr val="333333"/>
                </a:solidFill>
              </a:rPr>
              <a:t>• Strategy — FTPFileEntryParser implementations</a:t>
            </a:r>
          </a:p>
        </p:txBody>
      </p:sp>
      <p:sp>
        <p:nvSpPr>
          <p:cNvPr id="18" name="TextBox 17"/>
          <p:cNvSpPr txBox="1"/>
          <p:nvPr/>
        </p:nvSpPr>
        <p:spPr>
          <a:xfrm>
            <a:off x="457200" y="4215384"/>
            <a:ext cx="11247120" cy="292608"/>
          </a:xfrm>
          <a:prstGeom prst="rect">
            <a:avLst/>
          </a:prstGeom>
          <a:noFill/>
        </p:spPr>
        <p:txBody>
          <a:bodyPr wrap="square">
            <a:spAutoFit/>
          </a:bodyPr>
          <a:lstStyle/>
          <a:p>
            <a:pPr algn="l"/>
            <a:r>
              <a:rPr sz="1400" b="0">
                <a:solidFill>
                  <a:srgbClr val="333333"/>
                </a:solidFill>
              </a:rPr>
              <a:t>• Observer — ProtocolCommandSupport / Listener</a:t>
            </a:r>
          </a:p>
        </p:txBody>
      </p:sp>
      <p:sp>
        <p:nvSpPr>
          <p:cNvPr id="19" name="TextBox 18"/>
          <p:cNvSpPr txBox="1"/>
          <p:nvPr/>
        </p:nvSpPr>
        <p:spPr>
          <a:xfrm>
            <a:off x="457200" y="4471416"/>
            <a:ext cx="11247120" cy="292608"/>
          </a:xfrm>
          <a:prstGeom prst="rect">
            <a:avLst/>
          </a:prstGeom>
          <a:noFill/>
        </p:spPr>
        <p:txBody>
          <a:bodyPr wrap="square">
            <a:spAutoFit/>
          </a:bodyPr>
          <a:lstStyle/>
          <a:p>
            <a:pPr algn="l"/>
            <a:r>
              <a:rPr sz="1400" b="0">
                <a:solidFill>
                  <a:srgbClr val="333333"/>
                </a:solidFill>
              </a:rPr>
              <a:t>• Template — SocketClient._connectAction_()</a:t>
            </a:r>
          </a:p>
        </p:txBody>
      </p:sp>
      <p:sp>
        <p:nvSpPr>
          <p:cNvPr id="20" name="TextBox 19"/>
          <p:cNvSpPr txBox="1"/>
          <p:nvPr/>
        </p:nvSpPr>
        <p:spPr>
          <a:xfrm>
            <a:off x="457200" y="4727448"/>
            <a:ext cx="11247120" cy="292608"/>
          </a:xfrm>
          <a:prstGeom prst="rect">
            <a:avLst/>
          </a:prstGeom>
          <a:noFill/>
        </p:spPr>
        <p:txBody>
          <a:bodyPr wrap="square">
            <a:spAutoFit/>
          </a:bodyPr>
          <a:lstStyle/>
          <a:p>
            <a:pPr algn="l"/>
            <a:r>
              <a:rPr sz="1400" b="0">
                <a:solidFill>
                  <a:srgbClr val="333333"/>
                </a:solidFill>
              </a:rPr>
              <a:t>• Iterator — ArticleIterator, NewsgroupIterator (NNTP)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Design Patterns — Creational</a:t>
            </a:r>
          </a:p>
        </p:txBody>
      </p:sp>
      <p:sp>
        <p:nvSpPr>
          <p:cNvPr id="4" name="Rectangle 3"/>
          <p:cNvSpPr/>
          <p:nvPr/>
        </p:nvSpPr>
        <p:spPr>
          <a:xfrm>
            <a:off x="274320" y="1234440"/>
            <a:ext cx="5486400" cy="2377440"/>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79" y="1325880"/>
            <a:ext cx="5212080" cy="365760"/>
          </a:xfrm>
          <a:prstGeom prst="rect">
            <a:avLst/>
          </a:prstGeom>
          <a:noFill/>
        </p:spPr>
        <p:txBody>
          <a:bodyPr wrap="square">
            <a:spAutoFit/>
          </a:bodyPr>
          <a:lstStyle/>
          <a:p>
            <a:pPr algn="l"/>
            <a:r>
              <a:rPr sz="1700" b="1">
                <a:solidFill>
                  <a:srgbClr val="1F3D6B"/>
                </a:solidFill>
              </a:rPr>
              <a:t>Factory</a:t>
            </a:r>
          </a:p>
        </p:txBody>
      </p:sp>
      <p:sp>
        <p:nvSpPr>
          <p:cNvPr id="6" name="TextBox 5"/>
          <p:cNvSpPr txBox="1"/>
          <p:nvPr/>
        </p:nvSpPr>
        <p:spPr>
          <a:xfrm>
            <a:off x="411479" y="1737360"/>
            <a:ext cx="5212080" cy="1737360"/>
          </a:xfrm>
          <a:prstGeom prst="rect">
            <a:avLst/>
          </a:prstGeom>
          <a:noFill/>
        </p:spPr>
        <p:txBody>
          <a:bodyPr wrap="square">
            <a:spAutoFit/>
          </a:bodyPr>
          <a:lstStyle/>
          <a:p>
            <a:pPr algn="l"/>
            <a:r>
              <a:rPr sz="1300" b="0">
                <a:solidFill>
                  <a:srgbClr val="333333"/>
                </a:solidFill>
              </a:rPr>
              <a:t>FTPClient calls createFileEntryParser(key)
to get the right parser for the server's OS.
The factory inspects the SYST response string
and instantiates the correct parser without
the client knowing which one it received.
Key class: DefaultFTPFileEntryParserFactory</a:t>
            </a:r>
          </a:p>
        </p:txBody>
      </p:sp>
      <p:sp>
        <p:nvSpPr>
          <p:cNvPr id="7" name="Rectangle 6"/>
          <p:cNvSpPr/>
          <p:nvPr/>
        </p:nvSpPr>
        <p:spPr>
          <a:xfrm>
            <a:off x="6217920" y="1234440"/>
            <a:ext cx="5486400" cy="2377440"/>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325880"/>
            <a:ext cx="5212080" cy="365760"/>
          </a:xfrm>
          <a:prstGeom prst="rect">
            <a:avLst/>
          </a:prstGeom>
          <a:noFill/>
        </p:spPr>
        <p:txBody>
          <a:bodyPr wrap="square">
            <a:spAutoFit/>
          </a:bodyPr>
          <a:lstStyle/>
          <a:p>
            <a:pPr algn="l"/>
            <a:r>
              <a:rPr sz="1700" b="1">
                <a:solidFill>
                  <a:srgbClr val="1F3D6B"/>
                </a:solidFill>
              </a:rPr>
              <a:t>Abstract Factory</a:t>
            </a:r>
          </a:p>
        </p:txBody>
      </p:sp>
      <p:sp>
        <p:nvSpPr>
          <p:cNvPr id="9" name="TextBox 8"/>
          <p:cNvSpPr txBox="1"/>
          <p:nvPr/>
        </p:nvSpPr>
        <p:spPr>
          <a:xfrm>
            <a:off x="6355080" y="1737360"/>
            <a:ext cx="5212080" cy="1737360"/>
          </a:xfrm>
          <a:prstGeom prst="rect">
            <a:avLst/>
          </a:prstGeom>
          <a:noFill/>
        </p:spPr>
        <p:txBody>
          <a:bodyPr wrap="square">
            <a:spAutoFit/>
          </a:bodyPr>
          <a:lstStyle/>
          <a:p>
            <a:pPr algn="l"/>
            <a:r>
              <a:rPr sz="1300" b="0">
                <a:solidFill>
                  <a:srgbClr val="333333"/>
                </a:solidFill>
              </a:rPr>
              <a:t>FTPFileEntryParserFactory (interface) defines
the contract for all parser factories.
FTPClient depends on the interface, not
the concrete implementation — so users can
inject a completely custom factory.
Key class: FTPFileEntryParserFactory</a:t>
            </a:r>
          </a:p>
        </p:txBody>
      </p:sp>
      <p:sp>
        <p:nvSpPr>
          <p:cNvPr id="10" name="TextBox 9"/>
          <p:cNvSpPr txBox="1"/>
          <p:nvPr/>
        </p:nvSpPr>
        <p:spPr>
          <a:xfrm>
            <a:off x="274320" y="3794760"/>
            <a:ext cx="11612880" cy="502920"/>
          </a:xfrm>
          <a:prstGeom prst="rect">
            <a:avLst/>
          </a:prstGeom>
          <a:noFill/>
        </p:spPr>
        <p:txBody>
          <a:bodyPr wrap="square">
            <a:spAutoFit/>
          </a:bodyPr>
          <a:lstStyle/>
          <a:p>
            <a:pPr algn="l"/>
            <a:r>
              <a:rPr sz="1300" b="0">
                <a:solidFill>
                  <a:srgbClr val="555555"/>
                </a:solidFill>
              </a:rPr>
              <a:t>Both patterns work together: Abstract Factory defines the contract; Factory is the concrete implementation selected at runtime based on the server's OS type.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Design Patterns — Structural</a:t>
            </a:r>
          </a:p>
        </p:txBody>
      </p:sp>
      <p:sp>
        <p:nvSpPr>
          <p:cNvPr id="4" name="Rectangle 3"/>
          <p:cNvSpPr/>
          <p:nvPr/>
        </p:nvSpPr>
        <p:spPr>
          <a:xfrm>
            <a:off x="274320" y="1234440"/>
            <a:ext cx="5486400" cy="1783080"/>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79" y="1307592"/>
            <a:ext cx="5212080" cy="320040"/>
          </a:xfrm>
          <a:prstGeom prst="rect">
            <a:avLst/>
          </a:prstGeom>
          <a:noFill/>
        </p:spPr>
        <p:txBody>
          <a:bodyPr wrap="square">
            <a:spAutoFit/>
          </a:bodyPr>
          <a:lstStyle/>
          <a:p>
            <a:pPr algn="l"/>
            <a:r>
              <a:rPr sz="1600" b="1">
                <a:solidFill>
                  <a:srgbClr val="1F3D6B"/>
                </a:solidFill>
              </a:rPr>
              <a:t>Adapter</a:t>
            </a:r>
          </a:p>
        </p:txBody>
      </p:sp>
      <p:sp>
        <p:nvSpPr>
          <p:cNvPr id="6" name="TextBox 5"/>
          <p:cNvSpPr txBox="1"/>
          <p:nvPr/>
        </p:nvSpPr>
        <p:spPr>
          <a:xfrm>
            <a:off x="411479" y="1618488"/>
            <a:ext cx="5212080" cy="256032"/>
          </a:xfrm>
          <a:prstGeom prst="rect">
            <a:avLst/>
          </a:prstGeom>
          <a:noFill/>
        </p:spPr>
        <p:txBody>
          <a:bodyPr wrap="square">
            <a:spAutoFit/>
          </a:bodyPr>
          <a:lstStyle/>
          <a:p>
            <a:pPr algn="l"/>
            <a:r>
              <a:rPr sz="1200" b="1">
                <a:solidFill>
                  <a:srgbClr val="D79B00"/>
                </a:solidFill>
              </a:rPr>
              <a:t>CopyStreamAdapter</a:t>
            </a:r>
          </a:p>
        </p:txBody>
      </p:sp>
      <p:sp>
        <p:nvSpPr>
          <p:cNvPr id="7" name="TextBox 6"/>
          <p:cNvSpPr txBox="1"/>
          <p:nvPr/>
        </p:nvSpPr>
        <p:spPr>
          <a:xfrm>
            <a:off x="411479" y="1892808"/>
            <a:ext cx="5212080" cy="1005840"/>
          </a:xfrm>
          <a:prstGeom prst="rect">
            <a:avLst/>
          </a:prstGeom>
          <a:noFill/>
        </p:spPr>
        <p:txBody>
          <a:bodyPr wrap="square">
            <a:spAutoFit/>
          </a:bodyPr>
          <a:lstStyle/>
          <a:p>
            <a:pPr algn="l"/>
            <a:r>
              <a:rPr sz="1200" b="0">
                <a:solidFill>
                  <a:srgbClr val="333333"/>
                </a:solidFill>
              </a:rPr>
              <a:t>CopyStreamListener requires two bytesTransferred overloads.
CopyStreamAdapter provides no-op defaults so callers only
override the method they actually need.</a:t>
            </a:r>
          </a:p>
        </p:txBody>
      </p:sp>
      <p:sp>
        <p:nvSpPr>
          <p:cNvPr id="8" name="Rectangle 7"/>
          <p:cNvSpPr/>
          <p:nvPr/>
        </p:nvSpPr>
        <p:spPr>
          <a:xfrm>
            <a:off x="6217920" y="1234440"/>
            <a:ext cx="5486400" cy="1783080"/>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307592"/>
            <a:ext cx="5212080" cy="320040"/>
          </a:xfrm>
          <a:prstGeom prst="rect">
            <a:avLst/>
          </a:prstGeom>
          <a:noFill/>
        </p:spPr>
        <p:txBody>
          <a:bodyPr wrap="square">
            <a:spAutoFit/>
          </a:bodyPr>
          <a:lstStyle/>
          <a:p>
            <a:pPr algn="l"/>
            <a:r>
              <a:rPr sz="1600" b="1">
                <a:solidFill>
                  <a:srgbClr val="1F3D6B"/>
                </a:solidFill>
              </a:rPr>
              <a:t>Facade</a:t>
            </a:r>
          </a:p>
        </p:txBody>
      </p:sp>
      <p:sp>
        <p:nvSpPr>
          <p:cNvPr id="10" name="TextBox 9"/>
          <p:cNvSpPr txBox="1"/>
          <p:nvPr/>
        </p:nvSpPr>
        <p:spPr>
          <a:xfrm>
            <a:off x="6355080" y="1618488"/>
            <a:ext cx="5212080" cy="256032"/>
          </a:xfrm>
          <a:prstGeom prst="rect">
            <a:avLst/>
          </a:prstGeom>
          <a:noFill/>
        </p:spPr>
        <p:txBody>
          <a:bodyPr wrap="square">
            <a:spAutoFit/>
          </a:bodyPr>
          <a:lstStyle/>
          <a:p>
            <a:pPr algn="l"/>
            <a:r>
              <a:rPr sz="1200" b="1">
                <a:solidFill>
                  <a:srgbClr val="D79B00"/>
                </a:solidFill>
              </a:rPr>
              <a:t>FTPClient</a:t>
            </a:r>
          </a:p>
        </p:txBody>
      </p:sp>
      <p:sp>
        <p:nvSpPr>
          <p:cNvPr id="11" name="TextBox 10"/>
          <p:cNvSpPr txBox="1"/>
          <p:nvPr/>
        </p:nvSpPr>
        <p:spPr>
          <a:xfrm>
            <a:off x="6355080" y="1892808"/>
            <a:ext cx="5212080" cy="1005840"/>
          </a:xfrm>
          <a:prstGeom prst="rect">
            <a:avLst/>
          </a:prstGeom>
          <a:noFill/>
        </p:spPr>
        <p:txBody>
          <a:bodyPr wrap="square">
            <a:spAutoFit/>
          </a:bodyPr>
          <a:lstStyle/>
          <a:p>
            <a:pPr algn="l"/>
            <a:r>
              <a:rPr sz="1200" b="0">
                <a:solidFill>
                  <a:srgbClr val="333333"/>
                </a:solidFill>
              </a:rPr>
              <a:t>FTP exposes raw RFC 959 commands. FTPClient hides multi-step
sequences behind login(), storeFile(), retrieveFile(), listFiles() —
masking reply codes, data channel setup, and mode negotiation.</a:t>
            </a:r>
          </a:p>
        </p:txBody>
      </p:sp>
      <p:sp>
        <p:nvSpPr>
          <p:cNvPr id="12" name="Rectangle 11"/>
          <p:cNvSpPr/>
          <p:nvPr/>
        </p:nvSpPr>
        <p:spPr>
          <a:xfrm>
            <a:off x="274320" y="3291840"/>
            <a:ext cx="5486400" cy="1783080"/>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79" y="3364992"/>
            <a:ext cx="5212080" cy="320040"/>
          </a:xfrm>
          <a:prstGeom prst="rect">
            <a:avLst/>
          </a:prstGeom>
          <a:noFill/>
        </p:spPr>
        <p:txBody>
          <a:bodyPr wrap="square">
            <a:spAutoFit/>
          </a:bodyPr>
          <a:lstStyle/>
          <a:p>
            <a:pPr algn="l"/>
            <a:r>
              <a:rPr sz="1600" b="1">
                <a:solidFill>
                  <a:srgbClr val="1F3D6B"/>
                </a:solidFill>
              </a:rPr>
              <a:t>Composite</a:t>
            </a:r>
          </a:p>
        </p:txBody>
      </p:sp>
      <p:sp>
        <p:nvSpPr>
          <p:cNvPr id="14" name="TextBox 13"/>
          <p:cNvSpPr txBox="1"/>
          <p:nvPr/>
        </p:nvSpPr>
        <p:spPr>
          <a:xfrm>
            <a:off x="411479" y="3675888"/>
            <a:ext cx="5212080" cy="256032"/>
          </a:xfrm>
          <a:prstGeom prst="rect">
            <a:avLst/>
          </a:prstGeom>
          <a:noFill/>
        </p:spPr>
        <p:txBody>
          <a:bodyPr wrap="square">
            <a:spAutoFit/>
          </a:bodyPr>
          <a:lstStyle/>
          <a:p>
            <a:pPr algn="l"/>
            <a:r>
              <a:rPr sz="1200" b="1">
                <a:solidFill>
                  <a:srgbClr val="D79B00"/>
                </a:solidFill>
              </a:rPr>
              <a:t>CompositeFileEntryParser</a:t>
            </a:r>
          </a:p>
        </p:txBody>
      </p:sp>
      <p:sp>
        <p:nvSpPr>
          <p:cNvPr id="15" name="TextBox 14"/>
          <p:cNvSpPr txBox="1"/>
          <p:nvPr/>
        </p:nvSpPr>
        <p:spPr>
          <a:xfrm>
            <a:off x="411479" y="3950208"/>
            <a:ext cx="5212080" cy="1005840"/>
          </a:xfrm>
          <a:prstGeom prst="rect">
            <a:avLst/>
          </a:prstGeom>
          <a:noFill/>
        </p:spPr>
        <p:txBody>
          <a:bodyPr wrap="square">
            <a:spAutoFit/>
          </a:bodyPr>
          <a:lstStyle/>
          <a:p>
            <a:pPr algn="l"/>
            <a:r>
              <a:rPr sz="1200" b="0">
                <a:solidFill>
                  <a:srgbClr val="333333"/>
                </a:solidFill>
              </a:rPr>
              <a:t>Holds an array of FTPFileEntryParser implementations.
Tries each in order, caches the first match.
The caller holds one parser reference and never knows it's a composite.</a:t>
            </a:r>
          </a:p>
        </p:txBody>
      </p:sp>
      <p:sp>
        <p:nvSpPr>
          <p:cNvPr id="16" name="Rectangle 15"/>
          <p:cNvSpPr/>
          <p:nvPr/>
        </p:nvSpPr>
        <p:spPr>
          <a:xfrm>
            <a:off x="6217920" y="3291840"/>
            <a:ext cx="5486400" cy="1783080"/>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3364992"/>
            <a:ext cx="5212080" cy="320040"/>
          </a:xfrm>
          <a:prstGeom prst="rect">
            <a:avLst/>
          </a:prstGeom>
          <a:noFill/>
        </p:spPr>
        <p:txBody>
          <a:bodyPr wrap="square">
            <a:spAutoFit/>
          </a:bodyPr>
          <a:lstStyle/>
          <a:p>
            <a:pPr algn="l"/>
            <a:r>
              <a:rPr sz="1600" b="1">
                <a:solidFill>
                  <a:srgbClr val="1F3D6B"/>
                </a:solidFill>
              </a:rPr>
              <a:t>Decorator</a:t>
            </a:r>
          </a:p>
        </p:txBody>
      </p:sp>
      <p:sp>
        <p:nvSpPr>
          <p:cNvPr id="18" name="TextBox 17"/>
          <p:cNvSpPr txBox="1"/>
          <p:nvPr/>
        </p:nvSpPr>
        <p:spPr>
          <a:xfrm>
            <a:off x="6355080" y="3675888"/>
            <a:ext cx="5212080" cy="256032"/>
          </a:xfrm>
          <a:prstGeom prst="rect">
            <a:avLst/>
          </a:prstGeom>
          <a:noFill/>
        </p:spPr>
        <p:txBody>
          <a:bodyPr wrap="square">
            <a:spAutoFit/>
          </a:bodyPr>
          <a:lstStyle/>
          <a:p>
            <a:pPr algn="l"/>
            <a:r>
              <a:rPr sz="1200" b="1">
                <a:solidFill>
                  <a:srgbClr val="D79B00"/>
                </a:solidFill>
              </a:rPr>
              <a:t>io package — stream wrappers</a:t>
            </a:r>
          </a:p>
        </p:txBody>
      </p:sp>
      <p:sp>
        <p:nvSpPr>
          <p:cNvPr id="19" name="TextBox 18"/>
          <p:cNvSpPr txBox="1"/>
          <p:nvPr/>
        </p:nvSpPr>
        <p:spPr>
          <a:xfrm>
            <a:off x="6355080" y="3950208"/>
            <a:ext cx="5212080" cy="1005840"/>
          </a:xfrm>
          <a:prstGeom prst="rect">
            <a:avLst/>
          </a:prstGeom>
          <a:noFill/>
        </p:spPr>
        <p:txBody>
          <a:bodyPr wrap="square">
            <a:spAutoFit/>
          </a:bodyPr>
          <a:lstStyle/>
          <a:p>
            <a:pPr algn="l"/>
            <a:r>
              <a:rPr sz="1200" b="0">
                <a:solidFill>
                  <a:srgbClr val="333333"/>
                </a:solidFill>
              </a:rPr>
              <a:t>FromNetASCIIInputStream, ToNetASCIIOutputStream, SocketInputStream,
DotTerminatedMessageReader / Writer — each wraps an existing stream
and adds one behaviour without changing the interface.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Design Patterns — Behavioral</a:t>
            </a:r>
          </a:p>
        </p:txBody>
      </p:sp>
      <p:sp>
        <p:nvSpPr>
          <p:cNvPr id="4" name="Rectangle 3"/>
          <p:cNvSpPr/>
          <p:nvPr/>
        </p:nvSpPr>
        <p:spPr>
          <a:xfrm>
            <a:off x="274320" y="1234440"/>
            <a:ext cx="5486400" cy="1783080"/>
          </a:xfrm>
          <a:prstGeom prst="rect">
            <a:avLst/>
          </a:prstGeom>
          <a:solidFill>
            <a:srgbClr val="D5E8D4"/>
          </a:solidFill>
          <a:ln w="9525">
            <a:solidFill>
              <a:srgbClr val="82B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79" y="1307592"/>
            <a:ext cx="5212080" cy="320040"/>
          </a:xfrm>
          <a:prstGeom prst="rect">
            <a:avLst/>
          </a:prstGeom>
          <a:noFill/>
        </p:spPr>
        <p:txBody>
          <a:bodyPr wrap="square">
            <a:spAutoFit/>
          </a:bodyPr>
          <a:lstStyle/>
          <a:p>
            <a:pPr algn="l"/>
            <a:r>
              <a:rPr sz="1600" b="1">
                <a:solidFill>
                  <a:srgbClr val="1F3D6B"/>
                </a:solidFill>
              </a:rPr>
              <a:t>Strategy</a:t>
            </a:r>
          </a:p>
        </p:txBody>
      </p:sp>
      <p:sp>
        <p:nvSpPr>
          <p:cNvPr id="6" name="TextBox 5"/>
          <p:cNvSpPr txBox="1"/>
          <p:nvPr/>
        </p:nvSpPr>
        <p:spPr>
          <a:xfrm>
            <a:off x="411479" y="1618488"/>
            <a:ext cx="5212080" cy="256032"/>
          </a:xfrm>
          <a:prstGeom prst="rect">
            <a:avLst/>
          </a:prstGeom>
          <a:noFill/>
        </p:spPr>
        <p:txBody>
          <a:bodyPr wrap="square">
            <a:spAutoFit/>
          </a:bodyPr>
          <a:lstStyle/>
          <a:p>
            <a:pPr algn="l"/>
            <a:r>
              <a:rPr sz="1200" b="1">
                <a:solidFill>
                  <a:srgbClr val="D79B00"/>
                </a:solidFill>
              </a:rPr>
              <a:t>FTPFileEntryParser implementations</a:t>
            </a:r>
          </a:p>
        </p:txBody>
      </p:sp>
      <p:sp>
        <p:nvSpPr>
          <p:cNvPr id="7" name="TextBox 6"/>
          <p:cNvSpPr txBox="1"/>
          <p:nvPr/>
        </p:nvSpPr>
        <p:spPr>
          <a:xfrm>
            <a:off x="411479" y="1892808"/>
            <a:ext cx="5212080" cy="1005840"/>
          </a:xfrm>
          <a:prstGeom prst="rect">
            <a:avLst/>
          </a:prstGeom>
          <a:noFill/>
        </p:spPr>
        <p:txBody>
          <a:bodyPr wrap="square">
            <a:spAutoFit/>
          </a:bodyPr>
          <a:lstStyle/>
          <a:p>
            <a:pPr algn="l"/>
            <a:r>
              <a:rPr sz="1200" b="0">
                <a:solidFill>
                  <a:srgbClr val="333333"/>
                </a:solidFill>
              </a:rPr>
              <a:t>Each OS format (Unix, NT, VMS, OS/400…) is its own
parser class. The correct one is selected at runtime
and injected. FTPClient never hardcodes a format.</a:t>
            </a:r>
          </a:p>
        </p:txBody>
      </p:sp>
      <p:sp>
        <p:nvSpPr>
          <p:cNvPr id="8" name="Rectangle 7"/>
          <p:cNvSpPr/>
          <p:nvPr/>
        </p:nvSpPr>
        <p:spPr>
          <a:xfrm>
            <a:off x="6217920" y="1234440"/>
            <a:ext cx="5486400" cy="1783080"/>
          </a:xfrm>
          <a:prstGeom prst="rect">
            <a:avLst/>
          </a:prstGeom>
          <a:solidFill>
            <a:srgbClr val="D5E8D4"/>
          </a:solidFill>
          <a:ln w="9525">
            <a:solidFill>
              <a:srgbClr val="82B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307592"/>
            <a:ext cx="5212080" cy="320040"/>
          </a:xfrm>
          <a:prstGeom prst="rect">
            <a:avLst/>
          </a:prstGeom>
          <a:noFill/>
        </p:spPr>
        <p:txBody>
          <a:bodyPr wrap="square">
            <a:spAutoFit/>
          </a:bodyPr>
          <a:lstStyle/>
          <a:p>
            <a:pPr algn="l"/>
            <a:r>
              <a:rPr sz="1600" b="1">
                <a:solidFill>
                  <a:srgbClr val="1F3D6B"/>
                </a:solidFill>
              </a:rPr>
              <a:t>Observer</a:t>
            </a:r>
          </a:p>
        </p:txBody>
      </p:sp>
      <p:sp>
        <p:nvSpPr>
          <p:cNvPr id="10" name="TextBox 9"/>
          <p:cNvSpPr txBox="1"/>
          <p:nvPr/>
        </p:nvSpPr>
        <p:spPr>
          <a:xfrm>
            <a:off x="6355080" y="1618488"/>
            <a:ext cx="5212080" cy="256032"/>
          </a:xfrm>
          <a:prstGeom prst="rect">
            <a:avLst/>
          </a:prstGeom>
          <a:noFill/>
        </p:spPr>
        <p:txBody>
          <a:bodyPr wrap="square">
            <a:spAutoFit/>
          </a:bodyPr>
          <a:lstStyle/>
          <a:p>
            <a:pPr algn="l"/>
            <a:r>
              <a:rPr sz="1200" b="1">
                <a:solidFill>
                  <a:srgbClr val="D79B00"/>
                </a:solidFill>
              </a:rPr>
              <a:t>ProtocolCommandSupport / Listener</a:t>
            </a:r>
          </a:p>
        </p:txBody>
      </p:sp>
      <p:sp>
        <p:nvSpPr>
          <p:cNvPr id="11" name="TextBox 10"/>
          <p:cNvSpPr txBox="1"/>
          <p:nvPr/>
        </p:nvSpPr>
        <p:spPr>
          <a:xfrm>
            <a:off x="6355080" y="1892808"/>
            <a:ext cx="5212080" cy="1005840"/>
          </a:xfrm>
          <a:prstGeom prst="rect">
            <a:avLst/>
          </a:prstGeom>
          <a:noFill/>
        </p:spPr>
        <p:txBody>
          <a:bodyPr wrap="square">
            <a:spAutoFit/>
          </a:bodyPr>
          <a:lstStyle/>
          <a:p>
            <a:pPr algn="l"/>
            <a:r>
              <a:rPr sz="1200" b="0">
                <a:solidFill>
                  <a:srgbClr val="333333"/>
                </a:solidFill>
              </a:rPr>
              <a:t>SocketClient owns ProtocolCommandSupport.
Listeners register and receive events on every command
sent/reply received. Enables logging via PrintCommandListener.</a:t>
            </a:r>
          </a:p>
        </p:txBody>
      </p:sp>
      <p:sp>
        <p:nvSpPr>
          <p:cNvPr id="12" name="Rectangle 11"/>
          <p:cNvSpPr/>
          <p:nvPr/>
        </p:nvSpPr>
        <p:spPr>
          <a:xfrm>
            <a:off x="274320" y="3291840"/>
            <a:ext cx="5486400" cy="1783080"/>
          </a:xfrm>
          <a:prstGeom prst="rect">
            <a:avLst/>
          </a:prstGeom>
          <a:solidFill>
            <a:srgbClr val="D5E8D4"/>
          </a:solidFill>
          <a:ln w="9525">
            <a:solidFill>
              <a:srgbClr val="82B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79" y="3364992"/>
            <a:ext cx="5212080" cy="320040"/>
          </a:xfrm>
          <a:prstGeom prst="rect">
            <a:avLst/>
          </a:prstGeom>
          <a:noFill/>
        </p:spPr>
        <p:txBody>
          <a:bodyPr wrap="square">
            <a:spAutoFit/>
          </a:bodyPr>
          <a:lstStyle/>
          <a:p>
            <a:pPr algn="l"/>
            <a:r>
              <a:rPr sz="1600" b="1">
                <a:solidFill>
                  <a:srgbClr val="1F3D6B"/>
                </a:solidFill>
              </a:rPr>
              <a:t>Template</a:t>
            </a:r>
          </a:p>
        </p:txBody>
      </p:sp>
      <p:sp>
        <p:nvSpPr>
          <p:cNvPr id="14" name="TextBox 13"/>
          <p:cNvSpPr txBox="1"/>
          <p:nvPr/>
        </p:nvSpPr>
        <p:spPr>
          <a:xfrm>
            <a:off x="411479" y="3675888"/>
            <a:ext cx="5212080" cy="256032"/>
          </a:xfrm>
          <a:prstGeom prst="rect">
            <a:avLst/>
          </a:prstGeom>
          <a:noFill/>
        </p:spPr>
        <p:txBody>
          <a:bodyPr wrap="square">
            <a:spAutoFit/>
          </a:bodyPr>
          <a:lstStyle/>
          <a:p>
            <a:pPr algn="l"/>
            <a:r>
              <a:rPr sz="1200" b="1">
                <a:solidFill>
                  <a:srgbClr val="D79B00"/>
                </a:solidFill>
              </a:rPr>
              <a:t>SocketClient._connectAction_()</a:t>
            </a:r>
          </a:p>
        </p:txBody>
      </p:sp>
      <p:sp>
        <p:nvSpPr>
          <p:cNvPr id="15" name="TextBox 14"/>
          <p:cNvSpPr txBox="1"/>
          <p:nvPr/>
        </p:nvSpPr>
        <p:spPr>
          <a:xfrm>
            <a:off x="411479" y="3950208"/>
            <a:ext cx="5212080" cy="1005840"/>
          </a:xfrm>
          <a:prstGeom prst="rect">
            <a:avLst/>
          </a:prstGeom>
          <a:noFill/>
        </p:spPr>
        <p:txBody>
          <a:bodyPr wrap="square">
            <a:spAutoFit/>
          </a:bodyPr>
          <a:lstStyle/>
          <a:p>
            <a:pPr algn="l"/>
            <a:r>
              <a:rPr sz="1200" b="0">
                <a:solidFill>
                  <a:srgbClr val="333333"/>
                </a:solidFill>
              </a:rPr>
              <a:t>connect() defines the full connection algorithm.
Subclasses override _connectAction_() to insert
protocol-specific init (banner read, TLS handshake, etc.).</a:t>
            </a:r>
          </a:p>
        </p:txBody>
      </p:sp>
      <p:sp>
        <p:nvSpPr>
          <p:cNvPr id="16" name="Rectangle 15"/>
          <p:cNvSpPr/>
          <p:nvPr/>
        </p:nvSpPr>
        <p:spPr>
          <a:xfrm>
            <a:off x="6217920" y="3291840"/>
            <a:ext cx="5486400" cy="1783080"/>
          </a:xfrm>
          <a:prstGeom prst="rect">
            <a:avLst/>
          </a:prstGeom>
          <a:solidFill>
            <a:srgbClr val="D5E8D4"/>
          </a:solidFill>
          <a:ln w="9525">
            <a:solidFill>
              <a:srgbClr val="82B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3364992"/>
            <a:ext cx="5212080" cy="320040"/>
          </a:xfrm>
          <a:prstGeom prst="rect">
            <a:avLst/>
          </a:prstGeom>
          <a:noFill/>
        </p:spPr>
        <p:txBody>
          <a:bodyPr wrap="square">
            <a:spAutoFit/>
          </a:bodyPr>
          <a:lstStyle/>
          <a:p>
            <a:pPr algn="l"/>
            <a:r>
              <a:rPr sz="1600" b="1">
                <a:solidFill>
                  <a:srgbClr val="1F3D6B"/>
                </a:solidFill>
              </a:rPr>
              <a:t>Iterator</a:t>
            </a:r>
          </a:p>
        </p:txBody>
      </p:sp>
      <p:sp>
        <p:nvSpPr>
          <p:cNvPr id="18" name="TextBox 17"/>
          <p:cNvSpPr txBox="1"/>
          <p:nvPr/>
        </p:nvSpPr>
        <p:spPr>
          <a:xfrm>
            <a:off x="6355080" y="3675888"/>
            <a:ext cx="5212080" cy="256032"/>
          </a:xfrm>
          <a:prstGeom prst="rect">
            <a:avLst/>
          </a:prstGeom>
          <a:noFill/>
        </p:spPr>
        <p:txBody>
          <a:bodyPr wrap="square">
            <a:spAutoFit/>
          </a:bodyPr>
          <a:lstStyle/>
          <a:p>
            <a:pPr algn="l"/>
            <a:r>
              <a:rPr sz="1200" b="1">
                <a:solidFill>
                  <a:srgbClr val="D79B00"/>
                </a:solidFill>
              </a:rPr>
              <a:t>NNTP — ArticleIterator, NewsgroupIterator</a:t>
            </a:r>
          </a:p>
        </p:txBody>
      </p:sp>
      <p:sp>
        <p:nvSpPr>
          <p:cNvPr id="19" name="TextBox 18"/>
          <p:cNvSpPr txBox="1"/>
          <p:nvPr/>
        </p:nvSpPr>
        <p:spPr>
          <a:xfrm>
            <a:off x="6355080" y="3950208"/>
            <a:ext cx="5212080" cy="1005840"/>
          </a:xfrm>
          <a:prstGeom prst="rect">
            <a:avLst/>
          </a:prstGeom>
          <a:noFill/>
        </p:spPr>
        <p:txBody>
          <a:bodyPr wrap="square">
            <a:spAutoFit/>
          </a:bodyPr>
          <a:lstStyle/>
          <a:p>
            <a:pPr algn="l"/>
            <a:r>
              <a:rPr sz="1200" b="0">
                <a:solidFill>
                  <a:srgbClr val="333333"/>
                </a:solidFill>
              </a:rPr>
              <a:t>Implements java.util.Iterator&lt;T&gt; to wrap raw NNTP
server strings and expose typed, traversable sequences
of Article and NewsgroupInfo objects.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Pattern Flow Diagram</a:t>
            </a:r>
          </a:p>
        </p:txBody>
      </p:sp>
      <p:sp>
        <p:nvSpPr>
          <p:cNvPr id="4" name="TextBox 3"/>
          <p:cNvSpPr txBox="1"/>
          <p:nvPr/>
        </p:nvSpPr>
        <p:spPr>
          <a:xfrm>
            <a:off x="274320" y="685800"/>
            <a:ext cx="11430000" cy="365760"/>
          </a:xfrm>
          <a:prstGeom prst="rect">
            <a:avLst/>
          </a:prstGeom>
          <a:noFill/>
        </p:spPr>
        <p:txBody>
          <a:bodyPr wrap="square">
            <a:spAutoFit/>
          </a:bodyPr>
          <a:lstStyle/>
          <a:p>
            <a:pPr algn="l"/>
            <a:r>
              <a:rPr sz="1400" b="0">
                <a:solidFill>
                  <a:srgbClr val="BBCCEE"/>
                </a:solidFill>
              </a:rPr>
              <a:t>Where each pattern activates in the request flow (see pattern-flow-diagram.md for Mermaid source)</a:t>
            </a:r>
          </a:p>
        </p:txBody>
      </p:sp>
      <p:sp>
        <p:nvSpPr>
          <p:cNvPr id="5" name="Rectangle 4"/>
          <p:cNvSpPr/>
          <p:nvPr/>
        </p:nvSpPr>
        <p:spPr>
          <a:xfrm>
            <a:off x="5029200" y="1234440"/>
            <a:ext cx="2194560" cy="457200"/>
          </a:xfrm>
          <a:prstGeom prst="rect">
            <a:avLst/>
          </a:prstGeom>
          <a:solidFill>
            <a:srgbClr val="FFF2CC"/>
          </a:solidFill>
          <a:ln w="9525">
            <a:solidFill>
              <a:srgbClr val="1F3D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120640" y="1280160"/>
            <a:ext cx="2011679" cy="228600"/>
          </a:xfrm>
          <a:prstGeom prst="rect">
            <a:avLst/>
          </a:prstGeom>
          <a:noFill/>
        </p:spPr>
        <p:txBody>
          <a:bodyPr wrap="square">
            <a:spAutoFit/>
          </a:bodyPr>
          <a:lstStyle/>
          <a:p>
            <a:pPr algn="l"/>
            <a:r>
              <a:rPr sz="1200" b="1">
                <a:solidFill>
                  <a:srgbClr val="1F3D6B"/>
                </a:solidFill>
              </a:rPr>
              <a:t>Your Application</a:t>
            </a:r>
          </a:p>
        </p:txBody>
      </p:sp>
      <p:sp>
        <p:nvSpPr>
          <p:cNvPr id="7" name="Rectangle 6"/>
          <p:cNvSpPr/>
          <p:nvPr/>
        </p:nvSpPr>
        <p:spPr>
          <a:xfrm>
            <a:off x="5029200" y="1920240"/>
            <a:ext cx="2194560" cy="457200"/>
          </a:xfrm>
          <a:prstGeom prst="rect">
            <a:avLst/>
          </a:prstGeom>
          <a:solidFill>
            <a:srgbClr val="DAE8FC"/>
          </a:solidFill>
          <a:ln w="9525">
            <a:solidFill>
              <a:srgbClr val="1F3D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0" y="1965960"/>
            <a:ext cx="2011679" cy="228600"/>
          </a:xfrm>
          <a:prstGeom prst="rect">
            <a:avLst/>
          </a:prstGeom>
          <a:noFill/>
        </p:spPr>
        <p:txBody>
          <a:bodyPr wrap="square">
            <a:spAutoFit/>
          </a:bodyPr>
          <a:lstStyle/>
          <a:p>
            <a:pPr algn="l"/>
            <a:r>
              <a:rPr sz="1200" b="1">
                <a:solidFill>
                  <a:srgbClr val="1F3D6B"/>
                </a:solidFill>
              </a:rPr>
              <a:t>SocketClient / DSC</a:t>
            </a:r>
          </a:p>
        </p:txBody>
      </p:sp>
      <p:sp>
        <p:nvSpPr>
          <p:cNvPr id="9" name="TextBox 8"/>
          <p:cNvSpPr txBox="1"/>
          <p:nvPr/>
        </p:nvSpPr>
        <p:spPr>
          <a:xfrm>
            <a:off x="5120640" y="2167128"/>
            <a:ext cx="2011679" cy="182880"/>
          </a:xfrm>
          <a:prstGeom prst="rect">
            <a:avLst/>
          </a:prstGeom>
          <a:noFill/>
        </p:spPr>
        <p:txBody>
          <a:bodyPr wrap="square">
            <a:spAutoFit/>
          </a:bodyPr>
          <a:lstStyle/>
          <a:p>
            <a:pPr algn="l"/>
            <a:r>
              <a:rPr sz="1000" b="0">
                <a:solidFill>
                  <a:srgbClr val="D79B00"/>
                </a:solidFill>
              </a:rPr>
              <a:t>Template</a:t>
            </a:r>
          </a:p>
        </p:txBody>
      </p:sp>
      <p:sp>
        <p:nvSpPr>
          <p:cNvPr id="10" name="Rectangle 9"/>
          <p:cNvSpPr/>
          <p:nvPr/>
        </p:nvSpPr>
        <p:spPr>
          <a:xfrm>
            <a:off x="5029200" y="2606040"/>
            <a:ext cx="2194560" cy="457200"/>
          </a:xfrm>
          <a:prstGeom prst="rect">
            <a:avLst/>
          </a:prstGeom>
          <a:solidFill>
            <a:srgbClr val="DAE8FC"/>
          </a:solidFill>
          <a:ln w="9525">
            <a:solidFill>
              <a:srgbClr val="1F3D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2651760"/>
            <a:ext cx="2011679" cy="228600"/>
          </a:xfrm>
          <a:prstGeom prst="rect">
            <a:avLst/>
          </a:prstGeom>
          <a:noFill/>
        </p:spPr>
        <p:txBody>
          <a:bodyPr wrap="square">
            <a:spAutoFit/>
          </a:bodyPr>
          <a:lstStyle/>
          <a:p>
            <a:pPr algn="l"/>
            <a:r>
              <a:rPr sz="1200" b="1">
                <a:solidFill>
                  <a:srgbClr val="1F3D6B"/>
                </a:solidFill>
              </a:rPr>
              <a:t>FTP / SMTP / IMAP…</a:t>
            </a:r>
          </a:p>
        </p:txBody>
      </p:sp>
      <p:sp>
        <p:nvSpPr>
          <p:cNvPr id="12" name="TextBox 11"/>
          <p:cNvSpPr txBox="1"/>
          <p:nvPr/>
        </p:nvSpPr>
        <p:spPr>
          <a:xfrm>
            <a:off x="5120640" y="2852928"/>
            <a:ext cx="2011679" cy="182880"/>
          </a:xfrm>
          <a:prstGeom prst="rect">
            <a:avLst/>
          </a:prstGeom>
          <a:noFill/>
        </p:spPr>
        <p:txBody>
          <a:bodyPr wrap="square">
            <a:spAutoFit/>
          </a:bodyPr>
          <a:lstStyle/>
          <a:p>
            <a:pPr algn="l"/>
            <a:r>
              <a:rPr sz="1000" b="0">
                <a:solidFill>
                  <a:srgbClr val="D79B00"/>
                </a:solidFill>
              </a:rPr>
              <a:t>Template</a:t>
            </a:r>
          </a:p>
        </p:txBody>
      </p:sp>
      <p:sp>
        <p:nvSpPr>
          <p:cNvPr id="13" name="Rectangle 12"/>
          <p:cNvSpPr/>
          <p:nvPr/>
        </p:nvSpPr>
        <p:spPr>
          <a:xfrm>
            <a:off x="5029200" y="3291840"/>
            <a:ext cx="2194560" cy="457200"/>
          </a:xfrm>
          <a:prstGeom prst="rect">
            <a:avLst/>
          </a:prstGeom>
          <a:solidFill>
            <a:srgbClr val="D5E8D4"/>
          </a:solidFill>
          <a:ln w="9525">
            <a:solidFill>
              <a:srgbClr val="1F3D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0640" y="3337560"/>
            <a:ext cx="2011679" cy="228600"/>
          </a:xfrm>
          <a:prstGeom prst="rect">
            <a:avLst/>
          </a:prstGeom>
          <a:noFill/>
        </p:spPr>
        <p:txBody>
          <a:bodyPr wrap="square">
            <a:spAutoFit/>
          </a:bodyPr>
          <a:lstStyle/>
          <a:p>
            <a:pPr algn="l"/>
            <a:r>
              <a:rPr sz="1200" b="1">
                <a:solidFill>
                  <a:srgbClr val="1F3D6B"/>
                </a:solidFill>
              </a:rPr>
              <a:t>FTPClient</a:t>
            </a:r>
          </a:p>
        </p:txBody>
      </p:sp>
      <p:sp>
        <p:nvSpPr>
          <p:cNvPr id="15" name="TextBox 14"/>
          <p:cNvSpPr txBox="1"/>
          <p:nvPr/>
        </p:nvSpPr>
        <p:spPr>
          <a:xfrm>
            <a:off x="5120640" y="3538728"/>
            <a:ext cx="2011679" cy="182880"/>
          </a:xfrm>
          <a:prstGeom prst="rect">
            <a:avLst/>
          </a:prstGeom>
          <a:noFill/>
        </p:spPr>
        <p:txBody>
          <a:bodyPr wrap="square">
            <a:spAutoFit/>
          </a:bodyPr>
          <a:lstStyle/>
          <a:p>
            <a:pPr algn="l"/>
            <a:r>
              <a:rPr sz="1000" b="0">
                <a:solidFill>
                  <a:srgbClr val="D79B00"/>
                </a:solidFill>
              </a:rPr>
              <a:t>Facade</a:t>
            </a:r>
          </a:p>
        </p:txBody>
      </p:sp>
      <p:sp>
        <p:nvSpPr>
          <p:cNvPr id="16" name="Rectangle 15"/>
          <p:cNvSpPr/>
          <p:nvPr/>
        </p:nvSpPr>
        <p:spPr>
          <a:xfrm>
            <a:off x="5029200" y="3977639"/>
            <a:ext cx="2194560" cy="457200"/>
          </a:xfrm>
          <a:prstGeom prst="rect">
            <a:avLst/>
          </a:prstGeom>
          <a:solidFill>
            <a:srgbClr val="EECCFF"/>
          </a:solidFill>
          <a:ln w="9525">
            <a:solidFill>
              <a:srgbClr val="1F3D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4023359"/>
            <a:ext cx="2011679" cy="228600"/>
          </a:xfrm>
          <a:prstGeom prst="rect">
            <a:avLst/>
          </a:prstGeom>
          <a:noFill/>
        </p:spPr>
        <p:txBody>
          <a:bodyPr wrap="square">
            <a:spAutoFit/>
          </a:bodyPr>
          <a:lstStyle/>
          <a:p>
            <a:pPr algn="l"/>
            <a:r>
              <a:rPr sz="1200" b="1">
                <a:solidFill>
                  <a:srgbClr val="1F3D6B"/>
                </a:solidFill>
              </a:rPr>
              <a:t>Parser Factory</a:t>
            </a:r>
          </a:p>
        </p:txBody>
      </p:sp>
      <p:sp>
        <p:nvSpPr>
          <p:cNvPr id="18" name="TextBox 17"/>
          <p:cNvSpPr txBox="1"/>
          <p:nvPr/>
        </p:nvSpPr>
        <p:spPr>
          <a:xfrm>
            <a:off x="5120640" y="4224527"/>
            <a:ext cx="2011679" cy="182880"/>
          </a:xfrm>
          <a:prstGeom prst="rect">
            <a:avLst/>
          </a:prstGeom>
          <a:noFill/>
        </p:spPr>
        <p:txBody>
          <a:bodyPr wrap="square">
            <a:spAutoFit/>
          </a:bodyPr>
          <a:lstStyle/>
          <a:p>
            <a:pPr algn="l"/>
            <a:r>
              <a:rPr sz="1000" b="0">
                <a:solidFill>
                  <a:srgbClr val="D79B00"/>
                </a:solidFill>
              </a:rPr>
              <a:t>Factory / Abstract Factory</a:t>
            </a:r>
          </a:p>
        </p:txBody>
      </p:sp>
      <p:sp>
        <p:nvSpPr>
          <p:cNvPr id="19" name="Rectangle 18"/>
          <p:cNvSpPr/>
          <p:nvPr/>
        </p:nvSpPr>
        <p:spPr>
          <a:xfrm>
            <a:off x="5029200" y="4663440"/>
            <a:ext cx="2194560" cy="457200"/>
          </a:xfrm>
          <a:prstGeom prst="rect">
            <a:avLst/>
          </a:prstGeom>
          <a:solidFill>
            <a:srgbClr val="FFE6CC"/>
          </a:solidFill>
          <a:ln w="9525">
            <a:solidFill>
              <a:srgbClr val="1F3D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20640" y="4709159"/>
            <a:ext cx="2011679" cy="228600"/>
          </a:xfrm>
          <a:prstGeom prst="rect">
            <a:avLst/>
          </a:prstGeom>
          <a:noFill/>
        </p:spPr>
        <p:txBody>
          <a:bodyPr wrap="square">
            <a:spAutoFit/>
          </a:bodyPr>
          <a:lstStyle/>
          <a:p>
            <a:pPr algn="l"/>
            <a:r>
              <a:rPr sz="1200" b="1">
                <a:solidFill>
                  <a:srgbClr val="1F3D6B"/>
                </a:solidFill>
              </a:rPr>
              <a:t>Concrete Parsers</a:t>
            </a:r>
          </a:p>
        </p:txBody>
      </p:sp>
      <p:sp>
        <p:nvSpPr>
          <p:cNvPr id="21" name="TextBox 20"/>
          <p:cNvSpPr txBox="1"/>
          <p:nvPr/>
        </p:nvSpPr>
        <p:spPr>
          <a:xfrm>
            <a:off x="5120640" y="4910327"/>
            <a:ext cx="2011679" cy="182880"/>
          </a:xfrm>
          <a:prstGeom prst="rect">
            <a:avLst/>
          </a:prstGeom>
          <a:noFill/>
        </p:spPr>
        <p:txBody>
          <a:bodyPr wrap="square">
            <a:spAutoFit/>
          </a:bodyPr>
          <a:lstStyle/>
          <a:p>
            <a:pPr algn="l"/>
            <a:r>
              <a:rPr sz="1000" b="0">
                <a:solidFill>
                  <a:srgbClr val="D79B00"/>
                </a:solidFill>
              </a:rPr>
              <a:t>Strategy / Composite</a:t>
            </a:r>
          </a:p>
        </p:txBody>
      </p:sp>
      <p:sp>
        <p:nvSpPr>
          <p:cNvPr id="22" name="Rectangle 21"/>
          <p:cNvSpPr/>
          <p:nvPr/>
        </p:nvSpPr>
        <p:spPr>
          <a:xfrm>
            <a:off x="274320" y="1371600"/>
            <a:ext cx="2651760" cy="914400"/>
          </a:xfrm>
          <a:prstGeom prst="rect">
            <a:avLst/>
          </a:prstGeom>
          <a:solidFill>
            <a:srgbClr val="FFE6CC"/>
          </a:solidFill>
          <a:ln w="9525">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1463040"/>
            <a:ext cx="2468880" cy="777240"/>
          </a:xfrm>
          <a:prstGeom prst="rect">
            <a:avLst/>
          </a:prstGeom>
          <a:noFill/>
        </p:spPr>
        <p:txBody>
          <a:bodyPr wrap="square">
            <a:spAutoFit/>
          </a:bodyPr>
          <a:lstStyle/>
          <a:p>
            <a:pPr algn="l"/>
            <a:r>
              <a:rPr sz="1100" b="0">
                <a:solidFill>
                  <a:srgbClr val="333333"/>
                </a:solidFill>
              </a:rPr>
              <a:t>Observer fires on
every command send
&amp; reply receive</a:t>
            </a:r>
          </a:p>
        </p:txBody>
      </p:sp>
      <p:sp>
        <p:nvSpPr>
          <p:cNvPr id="24" name="Rectangle 23"/>
          <p:cNvSpPr/>
          <p:nvPr/>
        </p:nvSpPr>
        <p:spPr>
          <a:xfrm>
            <a:off x="274320" y="3200400"/>
            <a:ext cx="2651760" cy="914400"/>
          </a:xfrm>
          <a:prstGeom prst="rect">
            <a:avLst/>
          </a:prstGeom>
          <a:solidFill>
            <a:srgbClr val="CCFFFF"/>
          </a:solidFill>
          <a:ln w="9525">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3291840"/>
            <a:ext cx="2468880" cy="777240"/>
          </a:xfrm>
          <a:prstGeom prst="rect">
            <a:avLst/>
          </a:prstGeom>
          <a:noFill/>
        </p:spPr>
        <p:txBody>
          <a:bodyPr wrap="square">
            <a:spAutoFit/>
          </a:bodyPr>
          <a:lstStyle/>
          <a:p>
            <a:pPr algn="l"/>
            <a:r>
              <a:rPr sz="1100" b="0">
                <a:solidFill>
                  <a:srgbClr val="333333"/>
                </a:solidFill>
              </a:rPr>
              <a:t>Decorator wraps
I/O streams for
NetASCII &amp; dot-term</a:t>
            </a:r>
          </a:p>
        </p:txBody>
      </p:sp>
      <p:sp>
        <p:nvSpPr>
          <p:cNvPr id="26" name="Rectangle 25"/>
          <p:cNvSpPr/>
          <p:nvPr/>
        </p:nvSpPr>
        <p:spPr>
          <a:xfrm>
            <a:off x="8503920" y="3200400"/>
            <a:ext cx="2651760" cy="914400"/>
          </a:xfrm>
          <a:prstGeom prst="rect">
            <a:avLst/>
          </a:prstGeom>
          <a:solidFill>
            <a:srgbClr val="CCFFFF"/>
          </a:solidFill>
          <a:ln w="9525">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0" y="3291840"/>
            <a:ext cx="2468880" cy="777240"/>
          </a:xfrm>
          <a:prstGeom prst="rect">
            <a:avLst/>
          </a:prstGeom>
          <a:noFill/>
        </p:spPr>
        <p:txBody>
          <a:bodyPr wrap="square">
            <a:spAutoFit/>
          </a:bodyPr>
          <a:lstStyle/>
          <a:p>
            <a:pPr algn="l"/>
            <a:r>
              <a:rPr sz="1100" b="0">
                <a:solidFill>
                  <a:srgbClr val="333333"/>
                </a:solidFill>
              </a:rPr>
              <a:t>Adapter provides
no-op defaults for
CopyStreamListener</a:t>
            </a:r>
          </a:p>
        </p:txBody>
      </p:sp>
      <p:sp>
        <p:nvSpPr>
          <p:cNvPr id="28" name="Rectangle 27"/>
          <p:cNvSpPr/>
          <p:nvPr/>
        </p:nvSpPr>
        <p:spPr>
          <a:xfrm>
            <a:off x="8503920" y="4572000"/>
            <a:ext cx="2651760" cy="914400"/>
          </a:xfrm>
          <a:prstGeom prst="rect">
            <a:avLst/>
          </a:prstGeom>
          <a:solidFill>
            <a:srgbClr val="D5E8D4"/>
          </a:solidFill>
          <a:ln w="9525">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95360" y="4663440"/>
            <a:ext cx="2468880" cy="777240"/>
          </a:xfrm>
          <a:prstGeom prst="rect">
            <a:avLst/>
          </a:prstGeom>
          <a:noFill/>
        </p:spPr>
        <p:txBody>
          <a:bodyPr wrap="square">
            <a:spAutoFit/>
          </a:bodyPr>
          <a:lstStyle/>
          <a:p>
            <a:pPr algn="l"/>
            <a:r>
              <a:rPr sz="1100" b="0">
                <a:solidFill>
                  <a:srgbClr val="333333"/>
                </a:solidFill>
              </a:rPr>
              <a:t>Iterator traverses
NNTP responses
as typed objects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Files to Remove</a:t>
            </a:r>
          </a:p>
        </p:txBody>
      </p:sp>
      <p:sp>
        <p:nvSpPr>
          <p:cNvPr id="4" name="TextBox 3"/>
          <p:cNvSpPr txBox="1"/>
          <p:nvPr/>
        </p:nvSpPr>
        <p:spPr>
          <a:xfrm>
            <a:off x="274320" y="685800"/>
            <a:ext cx="11430000" cy="365760"/>
          </a:xfrm>
          <a:prstGeom prst="rect">
            <a:avLst/>
          </a:prstGeom>
          <a:noFill/>
        </p:spPr>
        <p:txBody>
          <a:bodyPr wrap="square">
            <a:spAutoFit/>
          </a:bodyPr>
          <a:lstStyle/>
          <a:p>
            <a:pPr algn="l"/>
            <a:r>
              <a:rPr sz="1400" b="0">
                <a:solidFill>
                  <a:srgbClr val="BBCCEE"/>
                </a:solidFill>
              </a:rPr>
              <a:t>Candidates identified before refactoring</a:t>
            </a:r>
          </a:p>
        </p:txBody>
      </p:sp>
      <p:sp>
        <p:nvSpPr>
          <p:cNvPr id="5" name="Rectangle 4"/>
          <p:cNvSpPr/>
          <p:nvPr/>
        </p:nvSpPr>
        <p:spPr>
          <a:xfrm>
            <a:off x="274320" y="1234440"/>
            <a:ext cx="11612880" cy="5257800"/>
          </a:xfrm>
          <a:prstGeom prst="rect">
            <a:avLst/>
          </a:prstGeom>
          <a:solidFill>
            <a:srgbClr val="DAE8FC"/>
          </a:solidFill>
          <a:ln w="9525">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298448"/>
            <a:ext cx="3200400" cy="292608"/>
          </a:xfrm>
          <a:prstGeom prst="rect">
            <a:avLst/>
          </a:prstGeom>
          <a:noFill/>
        </p:spPr>
        <p:txBody>
          <a:bodyPr wrap="square">
            <a:spAutoFit/>
          </a:bodyPr>
          <a:lstStyle/>
          <a:p>
            <a:pPr algn="l"/>
            <a:r>
              <a:rPr sz="1200" b="1">
                <a:solidFill>
                  <a:srgbClr val="1F3D6B"/>
                </a:solidFill>
              </a:rPr>
              <a:t>Item</a:t>
            </a:r>
          </a:p>
        </p:txBody>
      </p:sp>
      <p:sp>
        <p:nvSpPr>
          <p:cNvPr id="7" name="TextBox 6"/>
          <p:cNvSpPr txBox="1"/>
          <p:nvPr/>
        </p:nvSpPr>
        <p:spPr>
          <a:xfrm>
            <a:off x="3657600" y="1298448"/>
            <a:ext cx="1097280" cy="292608"/>
          </a:xfrm>
          <a:prstGeom prst="rect">
            <a:avLst/>
          </a:prstGeom>
          <a:noFill/>
        </p:spPr>
        <p:txBody>
          <a:bodyPr wrap="square">
            <a:spAutoFit/>
          </a:bodyPr>
          <a:lstStyle/>
          <a:p>
            <a:pPr algn="l"/>
            <a:r>
              <a:rPr sz="1200" b="1">
                <a:solidFill>
                  <a:srgbClr val="1F3D6B"/>
                </a:solidFill>
              </a:rPr>
              <a:t>Risk</a:t>
            </a:r>
          </a:p>
        </p:txBody>
      </p:sp>
      <p:sp>
        <p:nvSpPr>
          <p:cNvPr id="8" name="TextBox 7"/>
          <p:cNvSpPr txBox="1"/>
          <p:nvPr/>
        </p:nvSpPr>
        <p:spPr>
          <a:xfrm>
            <a:off x="4846320" y="1298448"/>
            <a:ext cx="6858000" cy="292608"/>
          </a:xfrm>
          <a:prstGeom prst="rect">
            <a:avLst/>
          </a:prstGeom>
          <a:noFill/>
        </p:spPr>
        <p:txBody>
          <a:bodyPr wrap="square">
            <a:spAutoFit/>
          </a:bodyPr>
          <a:lstStyle/>
          <a:p>
            <a:pPr algn="l"/>
            <a:r>
              <a:rPr sz="1200" b="1">
                <a:solidFill>
                  <a:srgbClr val="1F3D6B"/>
                </a:solidFill>
              </a:rPr>
              <a:t>Reason</a:t>
            </a:r>
          </a:p>
        </p:txBody>
      </p:sp>
      <p:sp>
        <p:nvSpPr>
          <p:cNvPr id="9" name="TextBox 8"/>
          <p:cNvSpPr txBox="1"/>
          <p:nvPr/>
        </p:nvSpPr>
        <p:spPr>
          <a:xfrm>
            <a:off x="411480" y="1664208"/>
            <a:ext cx="3108960" cy="256032"/>
          </a:xfrm>
          <a:prstGeom prst="rect">
            <a:avLst/>
          </a:prstGeom>
          <a:noFill/>
        </p:spPr>
        <p:txBody>
          <a:bodyPr wrap="square">
            <a:spAutoFit/>
          </a:bodyPr>
          <a:lstStyle/>
          <a:p>
            <a:pPr algn="l"/>
            <a:r>
              <a:rPr sz="1200" b="0">
                <a:solidFill>
                  <a:srgbClr val="333333"/>
                </a:solidFill>
              </a:rPr>
              <a:t>• ftp-client/ folder</a:t>
            </a:r>
          </a:p>
        </p:txBody>
      </p:sp>
      <p:sp>
        <p:nvSpPr>
          <p:cNvPr id="10" name="TextBox 9"/>
          <p:cNvSpPr txBox="1"/>
          <p:nvPr/>
        </p:nvSpPr>
        <p:spPr>
          <a:xfrm>
            <a:off x="3657600" y="1664208"/>
            <a:ext cx="1097280" cy="256032"/>
          </a:xfrm>
          <a:prstGeom prst="rect">
            <a:avLst/>
          </a:prstGeom>
          <a:noFill/>
        </p:spPr>
        <p:txBody>
          <a:bodyPr wrap="square">
            <a:spAutoFit/>
          </a:bodyPr>
          <a:lstStyle/>
          <a:p>
            <a:pPr algn="l"/>
            <a:r>
              <a:rPr sz="1200" b="1">
                <a:solidFill>
                  <a:srgbClr val="2E7D32"/>
                </a:solidFill>
              </a:rPr>
              <a:t>None</a:t>
            </a:r>
          </a:p>
        </p:txBody>
      </p:sp>
      <p:sp>
        <p:nvSpPr>
          <p:cNvPr id="11" name="TextBox 10"/>
          <p:cNvSpPr txBox="1"/>
          <p:nvPr/>
        </p:nvSpPr>
        <p:spPr>
          <a:xfrm>
            <a:off x="4846320" y="1664208"/>
            <a:ext cx="6858000" cy="256032"/>
          </a:xfrm>
          <a:prstGeom prst="rect">
            <a:avLst/>
          </a:prstGeom>
          <a:noFill/>
        </p:spPr>
        <p:txBody>
          <a:bodyPr wrap="square">
            <a:spAutoFit/>
          </a:bodyPr>
          <a:lstStyle/>
          <a:p>
            <a:pPr algn="l"/>
            <a:r>
              <a:rPr sz="1100" b="0">
                <a:solidFill>
                  <a:srgbClr val="555555"/>
                </a:solidFill>
              </a:rPr>
              <a:t>Exact flat-package duplicate of src/main/java/.../ftp/ — nothing canonical lives here</a:t>
            </a:r>
          </a:p>
        </p:txBody>
      </p:sp>
      <p:sp>
        <p:nvSpPr>
          <p:cNvPr id="12" name="TextBox 11"/>
          <p:cNvSpPr txBox="1"/>
          <p:nvPr/>
        </p:nvSpPr>
        <p:spPr>
          <a:xfrm>
            <a:off x="411480" y="1938528"/>
            <a:ext cx="3108960" cy="256032"/>
          </a:xfrm>
          <a:prstGeom prst="rect">
            <a:avLst/>
          </a:prstGeom>
          <a:noFill/>
        </p:spPr>
        <p:txBody>
          <a:bodyPr wrap="square">
            <a:spAutoFit/>
          </a:bodyPr>
          <a:lstStyle/>
          <a:p>
            <a:pPr algn="l"/>
            <a:r>
              <a:rPr sz="1200" b="0">
                <a:solidFill>
                  <a:srgbClr val="333333"/>
                </a:solidFill>
              </a:rPr>
              <a:t>• package-info.java files</a:t>
            </a:r>
          </a:p>
        </p:txBody>
      </p:sp>
      <p:sp>
        <p:nvSpPr>
          <p:cNvPr id="13" name="TextBox 12"/>
          <p:cNvSpPr txBox="1"/>
          <p:nvPr/>
        </p:nvSpPr>
        <p:spPr>
          <a:xfrm>
            <a:off x="3657600" y="1938528"/>
            <a:ext cx="1097280" cy="256032"/>
          </a:xfrm>
          <a:prstGeom prst="rect">
            <a:avLst/>
          </a:prstGeom>
          <a:noFill/>
        </p:spPr>
        <p:txBody>
          <a:bodyPr wrap="square">
            <a:spAutoFit/>
          </a:bodyPr>
          <a:lstStyle/>
          <a:p>
            <a:pPr algn="l"/>
            <a:r>
              <a:rPr sz="1200" b="1">
                <a:solidFill>
                  <a:srgbClr val="D79B00"/>
                </a:solidFill>
              </a:rPr>
              <a:t>Low</a:t>
            </a:r>
          </a:p>
        </p:txBody>
      </p:sp>
      <p:sp>
        <p:nvSpPr>
          <p:cNvPr id="14" name="TextBox 13"/>
          <p:cNvSpPr txBox="1"/>
          <p:nvPr/>
        </p:nvSpPr>
        <p:spPr>
          <a:xfrm>
            <a:off x="4846320" y="1938528"/>
            <a:ext cx="6858000" cy="256032"/>
          </a:xfrm>
          <a:prstGeom prst="rect">
            <a:avLst/>
          </a:prstGeom>
          <a:noFill/>
        </p:spPr>
        <p:txBody>
          <a:bodyPr wrap="square">
            <a:spAutoFit/>
          </a:bodyPr>
          <a:lstStyle/>
          <a:p>
            <a:pPr algn="l"/>
            <a:r>
              <a:rPr sz="1100" b="0">
                <a:solidFill>
                  <a:srgbClr val="555555"/>
                </a:solidFill>
              </a:rPr>
              <a:t>Javadoc descriptions only — no executable code; removal breaks Javadoc generation only</a:t>
            </a:r>
          </a:p>
        </p:txBody>
      </p:sp>
      <p:sp>
        <p:nvSpPr>
          <p:cNvPr id="15" name="TextBox 14"/>
          <p:cNvSpPr txBox="1"/>
          <p:nvPr/>
        </p:nvSpPr>
        <p:spPr>
          <a:xfrm>
            <a:off x="411480" y="2212848"/>
            <a:ext cx="3108960" cy="256032"/>
          </a:xfrm>
          <a:prstGeom prst="rect">
            <a:avLst/>
          </a:prstGeom>
          <a:noFill/>
        </p:spPr>
        <p:txBody>
          <a:bodyPr wrap="square">
            <a:spAutoFit/>
          </a:bodyPr>
          <a:lstStyle/>
          <a:p>
            <a:pPr algn="l"/>
            <a:r>
              <a:rPr sz="1200" b="0">
                <a:solidFill>
                  <a:srgbClr val="333333"/>
                </a:solidFill>
              </a:rPr>
              <a:t>• examples/ directory</a:t>
            </a:r>
          </a:p>
        </p:txBody>
      </p:sp>
      <p:sp>
        <p:nvSpPr>
          <p:cNvPr id="16" name="TextBox 15"/>
          <p:cNvSpPr txBox="1"/>
          <p:nvPr/>
        </p:nvSpPr>
        <p:spPr>
          <a:xfrm>
            <a:off x="3657600" y="2212848"/>
            <a:ext cx="1097280" cy="256032"/>
          </a:xfrm>
          <a:prstGeom prst="rect">
            <a:avLst/>
          </a:prstGeom>
          <a:noFill/>
        </p:spPr>
        <p:txBody>
          <a:bodyPr wrap="square">
            <a:spAutoFit/>
          </a:bodyPr>
          <a:lstStyle/>
          <a:p>
            <a:pPr algn="l"/>
            <a:r>
              <a:rPr sz="1200" b="1">
                <a:solidFill>
                  <a:srgbClr val="D79B00"/>
                </a:solidFill>
              </a:rPr>
              <a:t>Low</a:t>
            </a:r>
          </a:p>
        </p:txBody>
      </p:sp>
      <p:sp>
        <p:nvSpPr>
          <p:cNvPr id="17" name="TextBox 16"/>
          <p:cNvSpPr txBox="1"/>
          <p:nvPr/>
        </p:nvSpPr>
        <p:spPr>
          <a:xfrm>
            <a:off x="4846320" y="2212848"/>
            <a:ext cx="6858000" cy="256032"/>
          </a:xfrm>
          <a:prstGeom prst="rect">
            <a:avLst/>
          </a:prstGeom>
          <a:noFill/>
        </p:spPr>
        <p:txBody>
          <a:bodyPr wrap="square">
            <a:spAutoFit/>
          </a:bodyPr>
          <a:lstStyle/>
          <a:p>
            <a:pPr algn="l"/>
            <a:r>
              <a:rPr sz="1100" b="0">
                <a:solidFill>
                  <a:srgbClr val="555555"/>
                </a:solidFill>
              </a:rPr>
              <a:t>Usage demos, not part of the library — removing has no impact on library behaviour</a:t>
            </a:r>
          </a:p>
        </p:txBody>
      </p:sp>
      <p:sp>
        <p:nvSpPr>
          <p:cNvPr id="18" name="TextBox 17"/>
          <p:cNvSpPr txBox="1"/>
          <p:nvPr/>
        </p:nvSpPr>
        <p:spPr>
          <a:xfrm>
            <a:off x="411480" y="2487168"/>
            <a:ext cx="3108960" cy="256032"/>
          </a:xfrm>
          <a:prstGeom prst="rect">
            <a:avLst/>
          </a:prstGeom>
          <a:noFill/>
        </p:spPr>
        <p:txBody>
          <a:bodyPr wrap="square">
            <a:spAutoFit/>
          </a:bodyPr>
          <a:lstStyle/>
          <a:p>
            <a:pPr algn="l"/>
            <a:r>
              <a:rPr sz="1200" b="0">
                <a:solidFill>
                  <a:srgbClr val="333333"/>
                </a:solidFill>
              </a:rPr>
              <a:t>• FTPCommand.java</a:t>
            </a:r>
          </a:p>
        </p:txBody>
      </p:sp>
      <p:sp>
        <p:nvSpPr>
          <p:cNvPr id="19" name="TextBox 18"/>
          <p:cNvSpPr txBox="1"/>
          <p:nvPr/>
        </p:nvSpPr>
        <p:spPr>
          <a:xfrm>
            <a:off x="3657600" y="2487168"/>
            <a:ext cx="1097280" cy="256032"/>
          </a:xfrm>
          <a:prstGeom prst="rect">
            <a:avLst/>
          </a:prstGeom>
          <a:noFill/>
        </p:spPr>
        <p:txBody>
          <a:bodyPr wrap="square">
            <a:spAutoFit/>
          </a:bodyPr>
          <a:lstStyle/>
          <a:p>
            <a:pPr algn="l"/>
            <a:r>
              <a:rPr sz="1200" b="1">
                <a:solidFill>
                  <a:srgbClr val="C43E00"/>
                </a:solidFill>
              </a:rPr>
              <a:t>Medium</a:t>
            </a:r>
          </a:p>
        </p:txBody>
      </p:sp>
      <p:sp>
        <p:nvSpPr>
          <p:cNvPr id="20" name="TextBox 19"/>
          <p:cNvSpPr txBox="1"/>
          <p:nvPr/>
        </p:nvSpPr>
        <p:spPr>
          <a:xfrm>
            <a:off x="4846320" y="2487168"/>
            <a:ext cx="6858000" cy="256032"/>
          </a:xfrm>
          <a:prstGeom prst="rect">
            <a:avLst/>
          </a:prstGeom>
          <a:noFill/>
        </p:spPr>
        <p:txBody>
          <a:bodyPr wrap="square">
            <a:spAutoFit/>
          </a:bodyPr>
          <a:lstStyle/>
          <a:p>
            <a:pPr algn="l"/>
            <a:r>
              <a:rPr sz="1100" b="0">
                <a:solidFill>
                  <a:srgbClr val="555555"/>
                </a:solidFill>
              </a:rPr>
              <a:t>Deprecated integer-constant class replaced by FTPCmd.java enum</a:t>
            </a:r>
          </a:p>
        </p:txBody>
      </p:sp>
      <p:sp>
        <p:nvSpPr>
          <p:cNvPr id="21" name="TextBox 20"/>
          <p:cNvSpPr txBox="1"/>
          <p:nvPr/>
        </p:nvSpPr>
        <p:spPr>
          <a:xfrm>
            <a:off x="411480" y="2761487"/>
            <a:ext cx="3108960" cy="256032"/>
          </a:xfrm>
          <a:prstGeom prst="rect">
            <a:avLst/>
          </a:prstGeom>
          <a:noFill/>
        </p:spPr>
        <p:txBody>
          <a:bodyPr wrap="square">
            <a:spAutoFit/>
          </a:bodyPr>
          <a:lstStyle/>
          <a:p>
            <a:pPr algn="l"/>
            <a:r>
              <a:rPr sz="1200" b="0">
                <a:solidFill>
                  <a:srgbClr val="333333"/>
                </a:solidFill>
              </a:rPr>
              <a:t>• ArticlePointer.java</a:t>
            </a:r>
          </a:p>
        </p:txBody>
      </p:sp>
      <p:sp>
        <p:nvSpPr>
          <p:cNvPr id="22" name="TextBox 21"/>
          <p:cNvSpPr txBox="1"/>
          <p:nvPr/>
        </p:nvSpPr>
        <p:spPr>
          <a:xfrm>
            <a:off x="3657600" y="2761487"/>
            <a:ext cx="1097280" cy="256032"/>
          </a:xfrm>
          <a:prstGeom prst="rect">
            <a:avLst/>
          </a:prstGeom>
          <a:noFill/>
        </p:spPr>
        <p:txBody>
          <a:bodyPr wrap="square">
            <a:spAutoFit/>
          </a:bodyPr>
          <a:lstStyle/>
          <a:p>
            <a:pPr algn="l"/>
            <a:r>
              <a:rPr sz="1200" b="1">
                <a:solidFill>
                  <a:srgbClr val="C43E00"/>
                </a:solidFill>
              </a:rPr>
              <a:t>Medium</a:t>
            </a:r>
          </a:p>
        </p:txBody>
      </p:sp>
      <p:sp>
        <p:nvSpPr>
          <p:cNvPr id="23" name="TextBox 22"/>
          <p:cNvSpPr txBox="1"/>
          <p:nvPr/>
        </p:nvSpPr>
        <p:spPr>
          <a:xfrm>
            <a:off x="4846320" y="2761487"/>
            <a:ext cx="6858000" cy="256032"/>
          </a:xfrm>
          <a:prstGeom prst="rect">
            <a:avLst/>
          </a:prstGeom>
          <a:noFill/>
        </p:spPr>
        <p:txBody>
          <a:bodyPr wrap="square">
            <a:spAutoFit/>
          </a:bodyPr>
          <a:lstStyle/>
          <a:p>
            <a:pPr algn="l"/>
            <a:r>
              <a:rPr sz="1100" b="0">
                <a:solidFill>
                  <a:srgbClr val="555555"/>
                </a:solidFill>
              </a:rPr>
              <a:t>Deprecated; replaced by ArticleInfo.java</a:t>
            </a:r>
          </a:p>
        </p:txBody>
      </p:sp>
      <p:sp>
        <p:nvSpPr>
          <p:cNvPr id="24" name="TextBox 23"/>
          <p:cNvSpPr txBox="1"/>
          <p:nvPr/>
        </p:nvSpPr>
        <p:spPr>
          <a:xfrm>
            <a:off x="411480" y="3035807"/>
            <a:ext cx="3108960" cy="256032"/>
          </a:xfrm>
          <a:prstGeom prst="rect">
            <a:avLst/>
          </a:prstGeom>
          <a:noFill/>
        </p:spPr>
        <p:txBody>
          <a:bodyPr wrap="square">
            <a:spAutoFit/>
          </a:bodyPr>
          <a:lstStyle/>
          <a:p>
            <a:pPr algn="l"/>
            <a:r>
              <a:rPr sz="1200" b="0">
                <a:solidFill>
                  <a:srgbClr val="333333"/>
                </a:solidFill>
              </a:rPr>
              <a:t>• NNTPCommand.java</a:t>
            </a:r>
          </a:p>
        </p:txBody>
      </p:sp>
      <p:sp>
        <p:nvSpPr>
          <p:cNvPr id="25" name="TextBox 24"/>
          <p:cNvSpPr txBox="1"/>
          <p:nvPr/>
        </p:nvSpPr>
        <p:spPr>
          <a:xfrm>
            <a:off x="3657600" y="3035807"/>
            <a:ext cx="1097280" cy="256032"/>
          </a:xfrm>
          <a:prstGeom prst="rect">
            <a:avLst/>
          </a:prstGeom>
          <a:noFill/>
        </p:spPr>
        <p:txBody>
          <a:bodyPr wrap="square">
            <a:spAutoFit/>
          </a:bodyPr>
          <a:lstStyle/>
          <a:p>
            <a:pPr algn="l"/>
            <a:r>
              <a:rPr sz="1200" b="1">
                <a:solidFill>
                  <a:srgbClr val="C43E00"/>
                </a:solidFill>
              </a:rPr>
              <a:t>Medium</a:t>
            </a:r>
          </a:p>
        </p:txBody>
      </p:sp>
      <p:sp>
        <p:nvSpPr>
          <p:cNvPr id="26" name="TextBox 25"/>
          <p:cNvSpPr txBox="1"/>
          <p:nvPr/>
        </p:nvSpPr>
        <p:spPr>
          <a:xfrm>
            <a:off x="4846320" y="3035807"/>
            <a:ext cx="6858000" cy="256032"/>
          </a:xfrm>
          <a:prstGeom prst="rect">
            <a:avLst/>
          </a:prstGeom>
          <a:noFill/>
        </p:spPr>
        <p:txBody>
          <a:bodyPr wrap="square">
            <a:spAutoFit/>
          </a:bodyPr>
          <a:lstStyle/>
          <a:p>
            <a:pPr algn="l"/>
            <a:r>
              <a:rPr sz="1100" b="0">
                <a:solidFill>
                  <a:srgbClr val="555555"/>
                </a:solidFill>
              </a:rPr>
              <a:t>Old integer-constant command table; same pattern as FTPCommand</a:t>
            </a:r>
          </a:p>
        </p:txBody>
      </p:sp>
      <p:sp>
        <p:nvSpPr>
          <p:cNvPr id="27" name="TextBox 26"/>
          <p:cNvSpPr txBox="1"/>
          <p:nvPr/>
        </p:nvSpPr>
        <p:spPr>
          <a:xfrm>
            <a:off x="411480" y="3310127"/>
            <a:ext cx="3108960" cy="256032"/>
          </a:xfrm>
          <a:prstGeom prst="rect">
            <a:avLst/>
          </a:prstGeom>
          <a:noFill/>
        </p:spPr>
        <p:txBody>
          <a:bodyPr wrap="square">
            <a:spAutoFit/>
          </a:bodyPr>
          <a:lstStyle/>
          <a:p>
            <a:pPr algn="l"/>
            <a:r>
              <a:rPr sz="1200" b="0">
                <a:solidFill>
                  <a:srgbClr val="333333"/>
                </a:solidFill>
              </a:rPr>
              <a:t>• Build config files</a:t>
            </a:r>
          </a:p>
        </p:txBody>
      </p:sp>
      <p:sp>
        <p:nvSpPr>
          <p:cNvPr id="28" name="TextBox 27"/>
          <p:cNvSpPr txBox="1"/>
          <p:nvPr/>
        </p:nvSpPr>
        <p:spPr>
          <a:xfrm>
            <a:off x="3657600" y="3310127"/>
            <a:ext cx="1097280" cy="256032"/>
          </a:xfrm>
          <a:prstGeom prst="rect">
            <a:avLst/>
          </a:prstGeom>
          <a:noFill/>
        </p:spPr>
        <p:txBody>
          <a:bodyPr wrap="square">
            <a:spAutoFit/>
          </a:bodyPr>
          <a:lstStyle/>
          <a:p>
            <a:pPr algn="l"/>
            <a:r>
              <a:rPr sz="1200" b="1">
                <a:solidFill>
                  <a:srgbClr val="2E7D32"/>
                </a:solidFill>
              </a:rPr>
              <a:t>None</a:t>
            </a:r>
          </a:p>
        </p:txBody>
      </p:sp>
      <p:sp>
        <p:nvSpPr>
          <p:cNvPr id="29" name="TextBox 28"/>
          <p:cNvSpPr txBox="1"/>
          <p:nvPr/>
        </p:nvSpPr>
        <p:spPr>
          <a:xfrm>
            <a:off x="4846320" y="3310127"/>
            <a:ext cx="6858000" cy="256032"/>
          </a:xfrm>
          <a:prstGeom prst="rect">
            <a:avLst/>
          </a:prstGeom>
          <a:noFill/>
        </p:spPr>
        <p:txBody>
          <a:bodyPr wrap="square">
            <a:spAutoFit/>
          </a:bodyPr>
          <a:lstStyle/>
          <a:p>
            <a:pPr algn="l"/>
            <a:r>
              <a:rPr sz="1100" b="0">
                <a:solidFill>
                  <a:srgbClr val="555555"/>
                </a:solidFill>
              </a:rPr>
              <a:t>checkstyle.xml, findbugs-exclude-filter.xml, sonar files — CI tooling only</a:t>
            </a:r>
          </a:p>
        </p:txBody>
      </p:sp>
      <p:sp>
        <p:nvSpPr>
          <p:cNvPr id="30" name="TextBox 29"/>
          <p:cNvSpPr txBox="1"/>
          <p:nvPr/>
        </p:nvSpPr>
        <p:spPr>
          <a:xfrm>
            <a:off x="411480" y="3584447"/>
            <a:ext cx="3108960" cy="256032"/>
          </a:xfrm>
          <a:prstGeom prst="rect">
            <a:avLst/>
          </a:prstGeom>
          <a:noFill/>
        </p:spPr>
        <p:txBody>
          <a:bodyPr wrap="square">
            <a:spAutoFit/>
          </a:bodyPr>
          <a:lstStyle/>
          <a:p>
            <a:pPr algn="l"/>
            <a:r>
              <a:rPr sz="1200" b="0">
                <a:solidFill>
                  <a:srgbClr val="333333"/>
                </a:solidFill>
              </a:rPr>
              <a:t>• bsd/ package</a:t>
            </a:r>
          </a:p>
        </p:txBody>
      </p:sp>
      <p:sp>
        <p:nvSpPr>
          <p:cNvPr id="31" name="TextBox 30"/>
          <p:cNvSpPr txBox="1"/>
          <p:nvPr/>
        </p:nvSpPr>
        <p:spPr>
          <a:xfrm>
            <a:off x="3657600" y="3584447"/>
            <a:ext cx="1097280" cy="256032"/>
          </a:xfrm>
          <a:prstGeom prst="rect">
            <a:avLst/>
          </a:prstGeom>
          <a:noFill/>
        </p:spPr>
        <p:txBody>
          <a:bodyPr wrap="square">
            <a:spAutoFit/>
          </a:bodyPr>
          <a:lstStyle/>
          <a:p>
            <a:pPr algn="l"/>
            <a:r>
              <a:rPr sz="1200" b="1">
                <a:solidFill>
                  <a:srgbClr val="D79B00"/>
                </a:solidFill>
              </a:rPr>
              <a:t>Low</a:t>
            </a:r>
          </a:p>
        </p:txBody>
      </p:sp>
      <p:sp>
        <p:nvSpPr>
          <p:cNvPr id="32" name="TextBox 31"/>
          <p:cNvSpPr txBox="1"/>
          <p:nvPr/>
        </p:nvSpPr>
        <p:spPr>
          <a:xfrm>
            <a:off x="4846320" y="3584447"/>
            <a:ext cx="6858000" cy="256032"/>
          </a:xfrm>
          <a:prstGeom prst="rect">
            <a:avLst/>
          </a:prstGeom>
          <a:noFill/>
        </p:spPr>
        <p:txBody>
          <a:bodyPr wrap="square">
            <a:spAutoFit/>
          </a:bodyPr>
          <a:lstStyle/>
          <a:p>
            <a:pPr algn="l"/>
            <a:r>
              <a:rPr sz="1100" b="0">
                <a:solidFill>
                  <a:srgbClr val="555555"/>
                </a:solidFill>
              </a:rPr>
              <a:t>rexec/rlogin/rsh — obsolete BSD protocols disabled on virtually all modern systems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Proposed Changes — Making Patterns Consistent</a:t>
            </a:r>
          </a:p>
        </p:txBody>
      </p:sp>
      <p:sp>
        <p:nvSpPr>
          <p:cNvPr id="4" name="Rectangle 3"/>
          <p:cNvSpPr/>
          <p:nvPr/>
        </p:nvSpPr>
        <p:spPr>
          <a:xfrm>
            <a:off x="274320" y="1280160"/>
            <a:ext cx="11612880" cy="804672"/>
          </a:xfrm>
          <a:prstGeom prst="rect">
            <a:avLst/>
          </a:prstGeom>
          <a:solidFill>
            <a:srgbClr val="FFF2CC"/>
          </a:solidFill>
          <a:ln w="9525">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344168"/>
            <a:ext cx="3657600" cy="292608"/>
          </a:xfrm>
          <a:prstGeom prst="rect">
            <a:avLst/>
          </a:prstGeom>
          <a:noFill/>
        </p:spPr>
        <p:txBody>
          <a:bodyPr wrap="square">
            <a:spAutoFit/>
          </a:bodyPr>
          <a:lstStyle/>
          <a:p>
            <a:pPr algn="l"/>
            <a:r>
              <a:rPr sz="1300" b="1">
                <a:solidFill>
                  <a:srgbClr val="1F3D6B"/>
                </a:solidFill>
              </a:rPr>
              <a:t>Command Representation Split</a:t>
            </a:r>
          </a:p>
        </p:txBody>
      </p:sp>
      <p:sp>
        <p:nvSpPr>
          <p:cNvPr id="6" name="TextBox 5"/>
          <p:cNvSpPr txBox="1"/>
          <p:nvPr/>
        </p:nvSpPr>
        <p:spPr>
          <a:xfrm>
            <a:off x="4160520" y="1344168"/>
            <a:ext cx="7589520" cy="658368"/>
          </a:xfrm>
          <a:prstGeom prst="rect">
            <a:avLst/>
          </a:prstGeom>
          <a:noFill/>
        </p:spPr>
        <p:txBody>
          <a:bodyPr wrap="square">
            <a:spAutoFit/>
          </a:bodyPr>
          <a:lstStyle/>
          <a:p>
            <a:pPr algn="l"/>
            <a:r>
              <a:rPr sz="1200" b="0">
                <a:solidFill>
                  <a:srgbClr val="333333"/>
                </a:solidFill>
              </a:rPr>
              <a:t>FTPCmd is a modern enum. SMTPCommand, NNTPCommand, IMAPCommand, POP3Command are legacy integer-constant interfaces. Convert all to enums.</a:t>
            </a:r>
          </a:p>
        </p:txBody>
      </p:sp>
      <p:sp>
        <p:nvSpPr>
          <p:cNvPr id="7" name="Rectangle 6"/>
          <p:cNvSpPr/>
          <p:nvPr/>
        </p:nvSpPr>
        <p:spPr>
          <a:xfrm>
            <a:off x="274320" y="2157984"/>
            <a:ext cx="11612880" cy="804672"/>
          </a:xfrm>
          <a:prstGeom prst="rect">
            <a:avLst/>
          </a:prstGeom>
          <a:solidFill>
            <a:srgbClr val="FFF2CC"/>
          </a:solidFill>
          <a:ln w="9525">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2221991"/>
            <a:ext cx="3657600" cy="292608"/>
          </a:xfrm>
          <a:prstGeom prst="rect">
            <a:avLst/>
          </a:prstGeom>
          <a:noFill/>
        </p:spPr>
        <p:txBody>
          <a:bodyPr wrap="square">
            <a:spAutoFit/>
          </a:bodyPr>
          <a:lstStyle/>
          <a:p>
            <a:pPr algn="l"/>
            <a:r>
              <a:rPr sz="1300" b="1">
                <a:solidFill>
                  <a:srgbClr val="1F3D6B"/>
                </a:solidFill>
              </a:rPr>
              <a:t>Observer Firing Incomplete</a:t>
            </a:r>
          </a:p>
        </p:txBody>
      </p:sp>
      <p:sp>
        <p:nvSpPr>
          <p:cNvPr id="9" name="TextBox 8"/>
          <p:cNvSpPr txBox="1"/>
          <p:nvPr/>
        </p:nvSpPr>
        <p:spPr>
          <a:xfrm>
            <a:off x="4160520" y="2221991"/>
            <a:ext cx="7589520" cy="658368"/>
          </a:xfrm>
          <a:prstGeom prst="rect">
            <a:avLst/>
          </a:prstGeom>
          <a:noFill/>
        </p:spPr>
        <p:txBody>
          <a:bodyPr wrap="square">
            <a:spAutoFit/>
          </a:bodyPr>
          <a:lstStyle/>
          <a:p>
            <a:pPr algn="l"/>
            <a:r>
              <a:rPr sz="1200" b="0">
                <a:solidFill>
                  <a:srgbClr val="333333"/>
                </a:solidFill>
              </a:rPr>
              <a:t>ProtocolCommandSupport exists on SocketClient but only FTP fires events. Wire fireCommandSent() and fireReplyReceived() into all protocol base classes.</a:t>
            </a:r>
          </a:p>
        </p:txBody>
      </p:sp>
      <p:sp>
        <p:nvSpPr>
          <p:cNvPr id="10" name="Rectangle 9"/>
          <p:cNvSpPr/>
          <p:nvPr/>
        </p:nvSpPr>
        <p:spPr>
          <a:xfrm>
            <a:off x="274320" y="3035808"/>
            <a:ext cx="11612880" cy="804672"/>
          </a:xfrm>
          <a:prstGeom prst="rect">
            <a:avLst/>
          </a:prstGeom>
          <a:solidFill>
            <a:srgbClr val="FFF2CC"/>
          </a:solidFill>
          <a:ln w="9525">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3099815"/>
            <a:ext cx="3657600" cy="292608"/>
          </a:xfrm>
          <a:prstGeom prst="rect">
            <a:avLst/>
          </a:prstGeom>
          <a:noFill/>
        </p:spPr>
        <p:txBody>
          <a:bodyPr wrap="square">
            <a:spAutoFit/>
          </a:bodyPr>
          <a:lstStyle/>
          <a:p>
            <a:pPr algn="l"/>
            <a:r>
              <a:rPr sz="1300" b="1">
                <a:solidFill>
                  <a:srgbClr val="1F3D6B"/>
                </a:solidFill>
              </a:rPr>
              <a:t>Facade Boundary Blurry (non-FTP)</a:t>
            </a:r>
          </a:p>
        </p:txBody>
      </p:sp>
      <p:sp>
        <p:nvSpPr>
          <p:cNvPr id="12" name="TextBox 11"/>
          <p:cNvSpPr txBox="1"/>
          <p:nvPr/>
        </p:nvSpPr>
        <p:spPr>
          <a:xfrm>
            <a:off x="4160520" y="3099815"/>
            <a:ext cx="7589520" cy="658368"/>
          </a:xfrm>
          <a:prstGeom prst="rect">
            <a:avLst/>
          </a:prstGeom>
          <a:noFill/>
        </p:spPr>
        <p:txBody>
          <a:bodyPr wrap="square">
            <a:spAutoFit/>
          </a:bodyPr>
          <a:lstStyle/>
          <a:p>
            <a:pPr algn="l"/>
            <a:r>
              <a:rPr sz="1200" b="0">
                <a:solidFill>
                  <a:srgbClr val="333333"/>
                </a:solidFill>
              </a:rPr>
              <a:t>SMTPClient, IMAPClient, NNTPClient mix raw command logic with business logic. Enforce: base class = raw commands only; client class = high-level API only.</a:t>
            </a:r>
          </a:p>
        </p:txBody>
      </p:sp>
      <p:sp>
        <p:nvSpPr>
          <p:cNvPr id="13" name="Rectangle 12"/>
          <p:cNvSpPr/>
          <p:nvPr/>
        </p:nvSpPr>
        <p:spPr>
          <a:xfrm>
            <a:off x="274320" y="3913631"/>
            <a:ext cx="11612880" cy="804672"/>
          </a:xfrm>
          <a:prstGeom prst="rect">
            <a:avLst/>
          </a:prstGeom>
          <a:solidFill>
            <a:srgbClr val="FFF2CC"/>
          </a:solidFill>
          <a:ln w="9525">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3977639"/>
            <a:ext cx="3657600" cy="292608"/>
          </a:xfrm>
          <a:prstGeom prst="rect">
            <a:avLst/>
          </a:prstGeom>
          <a:noFill/>
        </p:spPr>
        <p:txBody>
          <a:bodyPr wrap="square">
            <a:spAutoFit/>
          </a:bodyPr>
          <a:lstStyle/>
          <a:p>
            <a:pPr algn="l"/>
            <a:r>
              <a:rPr sz="1300" b="1">
                <a:solidFill>
                  <a:srgbClr val="1F3D6B"/>
                </a:solidFill>
              </a:rPr>
              <a:t>Factory + Strategy Only in FTP</a:t>
            </a:r>
          </a:p>
        </p:txBody>
      </p:sp>
      <p:sp>
        <p:nvSpPr>
          <p:cNvPr id="15" name="TextBox 14"/>
          <p:cNvSpPr txBox="1"/>
          <p:nvPr/>
        </p:nvSpPr>
        <p:spPr>
          <a:xfrm>
            <a:off x="4160520" y="3977639"/>
            <a:ext cx="7589520" cy="658368"/>
          </a:xfrm>
          <a:prstGeom prst="rect">
            <a:avLst/>
          </a:prstGeom>
          <a:noFill/>
        </p:spPr>
        <p:txBody>
          <a:bodyPr wrap="square">
            <a:spAutoFit/>
          </a:bodyPr>
          <a:lstStyle/>
          <a:p>
            <a:pPr algn="l"/>
            <a:r>
              <a:rPr sz="1200" b="0">
                <a:solidFill>
                  <a:srgbClr val="333333"/>
                </a:solidFill>
              </a:rPr>
              <a:t>Only FTP uses the Factory + Strategy parser abstraction. Apply an NNTPResponseParser interface + factory to NNTPClient for consistency.</a:t>
            </a:r>
          </a:p>
        </p:txBody>
      </p:sp>
      <p:sp>
        <p:nvSpPr>
          <p:cNvPr id="16" name="Rectangle 15"/>
          <p:cNvSpPr/>
          <p:nvPr/>
        </p:nvSpPr>
        <p:spPr>
          <a:xfrm>
            <a:off x="274320" y="4791455"/>
            <a:ext cx="11612880" cy="804672"/>
          </a:xfrm>
          <a:prstGeom prst="rect">
            <a:avLst/>
          </a:prstGeom>
          <a:solidFill>
            <a:srgbClr val="FFF2CC"/>
          </a:solidFill>
          <a:ln w="9525">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 y="4855464"/>
            <a:ext cx="3657600" cy="292608"/>
          </a:xfrm>
          <a:prstGeom prst="rect">
            <a:avLst/>
          </a:prstGeom>
          <a:noFill/>
        </p:spPr>
        <p:txBody>
          <a:bodyPr wrap="square">
            <a:spAutoFit/>
          </a:bodyPr>
          <a:lstStyle/>
          <a:p>
            <a:pPr algn="l"/>
            <a:r>
              <a:rPr sz="1300" b="1">
                <a:solidFill>
                  <a:srgbClr val="1F3D6B"/>
                </a:solidFill>
              </a:rPr>
              <a:t>SSL Variants Inconsistent</a:t>
            </a:r>
          </a:p>
        </p:txBody>
      </p:sp>
      <p:sp>
        <p:nvSpPr>
          <p:cNvPr id="18" name="TextBox 17"/>
          <p:cNvSpPr txBox="1"/>
          <p:nvPr/>
        </p:nvSpPr>
        <p:spPr>
          <a:xfrm>
            <a:off x="4160520" y="4855464"/>
            <a:ext cx="7589520" cy="658368"/>
          </a:xfrm>
          <a:prstGeom prst="rect">
            <a:avLst/>
          </a:prstGeom>
          <a:noFill/>
        </p:spPr>
        <p:txBody>
          <a:bodyPr wrap="square">
            <a:spAutoFit/>
          </a:bodyPr>
          <a:lstStyle/>
          <a:p>
            <a:pPr algn="l"/>
            <a:r>
              <a:rPr sz="1200" b="0">
                <a:solidFill>
                  <a:srgbClr val="333333"/>
                </a:solidFill>
              </a:rPr>
              <a:t>FTP/SMTP/IMAP/POP3 have SSL variants; NNTP and Telnet do not. Either add NNTPSClient &amp; TelnetSClient, or explicitly document the omission.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Proposed Changes — New Patterns After Deletion</a:t>
            </a:r>
          </a:p>
        </p:txBody>
      </p:sp>
      <p:sp>
        <p:nvSpPr>
          <p:cNvPr id="4" name="Rectangle 3"/>
          <p:cNvSpPr/>
          <p:nvPr/>
        </p:nvSpPr>
        <p:spPr>
          <a:xfrm>
            <a:off x="274320" y="1280160"/>
            <a:ext cx="11612880" cy="1508760"/>
          </a:xfrm>
          <a:prstGeom prst="rect">
            <a:avLst/>
          </a:prstGeom>
          <a:solidFill>
            <a:srgbClr val="D5E8D4"/>
          </a:solidFill>
          <a:ln w="952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371600"/>
            <a:ext cx="2286000" cy="320040"/>
          </a:xfrm>
          <a:prstGeom prst="rect">
            <a:avLst/>
          </a:prstGeom>
          <a:noFill/>
        </p:spPr>
        <p:txBody>
          <a:bodyPr wrap="square">
            <a:spAutoFit/>
          </a:bodyPr>
          <a:lstStyle/>
          <a:p>
            <a:pPr algn="l"/>
            <a:r>
              <a:rPr sz="1700" b="1">
                <a:solidFill>
                  <a:srgbClr val="2E7D32"/>
                </a:solidFill>
              </a:rPr>
              <a:t>Builder</a:t>
            </a:r>
          </a:p>
        </p:txBody>
      </p:sp>
      <p:sp>
        <p:nvSpPr>
          <p:cNvPr id="6" name="TextBox 5"/>
          <p:cNvSpPr txBox="1"/>
          <p:nvPr/>
        </p:nvSpPr>
        <p:spPr>
          <a:xfrm>
            <a:off x="2788920" y="1371600"/>
            <a:ext cx="3657600" cy="320040"/>
          </a:xfrm>
          <a:prstGeom prst="rect">
            <a:avLst/>
          </a:prstGeom>
          <a:noFill/>
        </p:spPr>
        <p:txBody>
          <a:bodyPr wrap="square">
            <a:spAutoFit/>
          </a:bodyPr>
          <a:lstStyle/>
          <a:p>
            <a:pPr algn="l"/>
            <a:r>
              <a:rPr sz="1300" b="1">
                <a:solidFill>
                  <a:srgbClr val="1F3D6B"/>
                </a:solidFill>
              </a:rPr>
              <a:t>FTPClientConfig</a:t>
            </a:r>
          </a:p>
        </p:txBody>
      </p:sp>
      <p:sp>
        <p:nvSpPr>
          <p:cNvPr id="7" name="TextBox 6"/>
          <p:cNvSpPr txBox="1"/>
          <p:nvPr/>
        </p:nvSpPr>
        <p:spPr>
          <a:xfrm>
            <a:off x="411480" y="1783080"/>
            <a:ext cx="11064240" cy="914400"/>
          </a:xfrm>
          <a:prstGeom prst="rect">
            <a:avLst/>
          </a:prstGeom>
          <a:noFill/>
        </p:spPr>
        <p:txBody>
          <a:bodyPr wrap="square">
            <a:spAutoFit/>
          </a:bodyPr>
          <a:lstStyle/>
          <a:p>
            <a:pPr algn="l"/>
            <a:r>
              <a:rPr sz="1200" b="0">
                <a:solidFill>
                  <a:srgbClr val="333333"/>
                </a:solidFill>
              </a:rPr>
              <a:t>FTPClientConfig currently uses dozens of mutable setters — hard to use correctly.
Introduce FTPClientConfig.Builder for immutable, fluent configuration:
new FTPClientConfig.Builder().serverSystemKey("UNIX").serverTimeZoneId("UTC").build()</a:t>
            </a:r>
          </a:p>
        </p:txBody>
      </p:sp>
      <p:sp>
        <p:nvSpPr>
          <p:cNvPr id="8" name="Rectangle 7"/>
          <p:cNvSpPr/>
          <p:nvPr/>
        </p:nvSpPr>
        <p:spPr>
          <a:xfrm>
            <a:off x="274320" y="2926080"/>
            <a:ext cx="11612880" cy="1508760"/>
          </a:xfrm>
          <a:prstGeom prst="rect">
            <a:avLst/>
          </a:prstGeom>
          <a:solidFill>
            <a:srgbClr val="D5E8D4"/>
          </a:solidFill>
          <a:ln w="952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3017520"/>
            <a:ext cx="2286000" cy="320040"/>
          </a:xfrm>
          <a:prstGeom prst="rect">
            <a:avLst/>
          </a:prstGeom>
          <a:noFill/>
        </p:spPr>
        <p:txBody>
          <a:bodyPr wrap="square">
            <a:spAutoFit/>
          </a:bodyPr>
          <a:lstStyle/>
          <a:p>
            <a:pPr algn="l"/>
            <a:r>
              <a:rPr sz="1700" b="1">
                <a:solidFill>
                  <a:srgbClr val="2E7D32"/>
                </a:solidFill>
              </a:rPr>
              <a:t>Singleton</a:t>
            </a:r>
          </a:p>
        </p:txBody>
      </p:sp>
      <p:sp>
        <p:nvSpPr>
          <p:cNvPr id="10" name="TextBox 9"/>
          <p:cNvSpPr txBox="1"/>
          <p:nvPr/>
        </p:nvSpPr>
        <p:spPr>
          <a:xfrm>
            <a:off x="2788920" y="3017520"/>
            <a:ext cx="3657600" cy="320040"/>
          </a:xfrm>
          <a:prstGeom prst="rect">
            <a:avLst/>
          </a:prstGeom>
          <a:noFill/>
        </p:spPr>
        <p:txBody>
          <a:bodyPr wrap="square">
            <a:spAutoFit/>
          </a:bodyPr>
          <a:lstStyle/>
          <a:p>
            <a:pPr algn="l"/>
            <a:r>
              <a:rPr sz="1300" b="1">
                <a:solidFill>
                  <a:srgbClr val="1F3D6B"/>
                </a:solidFill>
              </a:rPr>
              <a:t>Default Socket Factories</a:t>
            </a:r>
          </a:p>
        </p:txBody>
      </p:sp>
      <p:sp>
        <p:nvSpPr>
          <p:cNvPr id="11" name="TextBox 10"/>
          <p:cNvSpPr txBox="1"/>
          <p:nvPr/>
        </p:nvSpPr>
        <p:spPr>
          <a:xfrm>
            <a:off x="411480" y="3429000"/>
            <a:ext cx="11064240" cy="914400"/>
          </a:xfrm>
          <a:prstGeom prst="rect">
            <a:avLst/>
          </a:prstGeom>
          <a:noFill/>
        </p:spPr>
        <p:txBody>
          <a:bodyPr wrap="square">
            <a:spAutoFit/>
          </a:bodyPr>
          <a:lstStyle/>
          <a:p>
            <a:pPr algn="l"/>
            <a:r>
              <a:rPr sz="1200" b="0">
                <a:solidFill>
                  <a:srgbClr val="333333"/>
                </a:solidFill>
              </a:rPr>
              <a:t>SocketClient and DatagramSocketClient hold raw static SocketFactory references.
Formalize as a SocketFactoryProvider singleton with a controlled getInstance() method.
Makes the factory lifecycle explicit and testable.</a:t>
            </a:r>
          </a:p>
        </p:txBody>
      </p:sp>
      <p:sp>
        <p:nvSpPr>
          <p:cNvPr id="12" name="Rectangle 11"/>
          <p:cNvSpPr/>
          <p:nvPr/>
        </p:nvSpPr>
        <p:spPr>
          <a:xfrm>
            <a:off x="274320" y="4572000"/>
            <a:ext cx="11612880" cy="1508760"/>
          </a:xfrm>
          <a:prstGeom prst="rect">
            <a:avLst/>
          </a:prstGeom>
          <a:solidFill>
            <a:srgbClr val="D5E8D4"/>
          </a:solidFill>
          <a:ln w="952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4663440"/>
            <a:ext cx="2286000" cy="320040"/>
          </a:xfrm>
          <a:prstGeom prst="rect">
            <a:avLst/>
          </a:prstGeom>
          <a:noFill/>
        </p:spPr>
        <p:txBody>
          <a:bodyPr wrap="square">
            <a:spAutoFit/>
          </a:bodyPr>
          <a:lstStyle/>
          <a:p>
            <a:pPr algn="l"/>
            <a:r>
              <a:rPr sz="1700" b="1">
                <a:solidFill>
                  <a:srgbClr val="2E7D32"/>
                </a:solidFill>
              </a:rPr>
              <a:t>Bridge</a:t>
            </a:r>
          </a:p>
        </p:txBody>
      </p:sp>
      <p:sp>
        <p:nvSpPr>
          <p:cNvPr id="14" name="TextBox 13"/>
          <p:cNvSpPr txBox="1"/>
          <p:nvPr/>
        </p:nvSpPr>
        <p:spPr>
          <a:xfrm>
            <a:off x="2788920" y="4663440"/>
            <a:ext cx="3657600" cy="320040"/>
          </a:xfrm>
          <a:prstGeom prst="rect">
            <a:avLst/>
          </a:prstGeom>
          <a:noFill/>
        </p:spPr>
        <p:txBody>
          <a:bodyPr wrap="square">
            <a:spAutoFit/>
          </a:bodyPr>
          <a:lstStyle/>
          <a:p>
            <a:pPr algn="l"/>
            <a:r>
              <a:rPr sz="1300" b="1">
                <a:solidFill>
                  <a:srgbClr val="1F3D6B"/>
                </a:solidFill>
              </a:rPr>
              <a:t>Shared TLS Negotiation</a:t>
            </a:r>
          </a:p>
        </p:txBody>
      </p:sp>
      <p:sp>
        <p:nvSpPr>
          <p:cNvPr id="15" name="TextBox 14"/>
          <p:cNvSpPr txBox="1"/>
          <p:nvPr/>
        </p:nvSpPr>
        <p:spPr>
          <a:xfrm>
            <a:off x="411480" y="5074920"/>
            <a:ext cx="11064240" cy="914400"/>
          </a:xfrm>
          <a:prstGeom prst="rect">
            <a:avLst/>
          </a:prstGeom>
          <a:noFill/>
        </p:spPr>
        <p:txBody>
          <a:bodyPr wrap="square">
            <a:spAutoFit/>
          </a:bodyPr>
          <a:lstStyle/>
          <a:p>
            <a:pPr algn="l"/>
            <a:r>
              <a:rPr sz="1200" b="0">
                <a:solidFill>
                  <a:srgbClr val="333333"/>
                </a:solidFill>
              </a:rPr>
              <a:t>FTPSClient, SMTPSClient, and IMAPSClient each duplicate TLS handshake logic.
Introduce a TLSNegotiator abstraction (Bridge) so SSL clients hold a negotiator reference
rather than embedding SSL code. ExplicitTLSNegotiator / ImplicitTLSNegotiator as impls.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0"/>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640080"/>
          </a:xfrm>
          <a:prstGeom prst="rect">
            <a:avLst/>
          </a:prstGeom>
          <a:noFill/>
        </p:spPr>
        <p:txBody>
          <a:bodyPr wrap="square">
            <a:spAutoFit/>
          </a:bodyPr>
          <a:lstStyle/>
          <a:p>
            <a:pPr algn="l"/>
            <a:r>
              <a:rPr sz="2800" b="1">
                <a:solidFill>
                  <a:srgbClr val="FFFFFF"/>
                </a:solidFill>
              </a:rPr>
              <a:t>Pattern Summary — Before &amp; After</a:t>
            </a:r>
          </a:p>
        </p:txBody>
      </p:sp>
      <p:sp>
        <p:nvSpPr>
          <p:cNvPr id="4" name="Rectangle 3"/>
          <p:cNvSpPr/>
          <p:nvPr/>
        </p:nvSpPr>
        <p:spPr>
          <a:xfrm>
            <a:off x="274320" y="1234440"/>
            <a:ext cx="10972800" cy="347472"/>
          </a:xfrm>
          <a:prstGeom prst="rect">
            <a:avLst/>
          </a:prstGeom>
          <a:solidFill>
            <a:srgbClr val="1F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2103120" cy="256032"/>
          </a:xfrm>
          <a:prstGeom prst="rect">
            <a:avLst/>
          </a:prstGeom>
          <a:noFill/>
        </p:spPr>
        <p:txBody>
          <a:bodyPr wrap="square">
            <a:spAutoFit/>
          </a:bodyPr>
          <a:lstStyle/>
          <a:p>
            <a:pPr algn="l"/>
            <a:r>
              <a:rPr sz="1200" b="1">
                <a:solidFill>
                  <a:srgbClr val="FFFFFF"/>
                </a:solidFill>
              </a:rPr>
              <a:t>Pattern</a:t>
            </a:r>
          </a:p>
        </p:txBody>
      </p:sp>
      <p:sp>
        <p:nvSpPr>
          <p:cNvPr id="6" name="TextBox 5"/>
          <p:cNvSpPr txBox="1"/>
          <p:nvPr/>
        </p:nvSpPr>
        <p:spPr>
          <a:xfrm>
            <a:off x="2697480" y="1280160"/>
            <a:ext cx="3291839" cy="256032"/>
          </a:xfrm>
          <a:prstGeom prst="rect">
            <a:avLst/>
          </a:prstGeom>
          <a:noFill/>
        </p:spPr>
        <p:txBody>
          <a:bodyPr wrap="square">
            <a:spAutoFit/>
          </a:bodyPr>
          <a:lstStyle/>
          <a:p>
            <a:pPr algn="l"/>
            <a:r>
              <a:rPr sz="1200" b="1">
                <a:solidFill>
                  <a:srgbClr val="FFFFFF"/>
                </a:solidFill>
              </a:rPr>
              <a:t>Current Status</a:t>
            </a:r>
          </a:p>
        </p:txBody>
      </p:sp>
      <p:sp>
        <p:nvSpPr>
          <p:cNvPr id="7" name="TextBox 6"/>
          <p:cNvSpPr txBox="1"/>
          <p:nvPr/>
        </p:nvSpPr>
        <p:spPr>
          <a:xfrm>
            <a:off x="6217920" y="1280160"/>
            <a:ext cx="3931920" cy="256032"/>
          </a:xfrm>
          <a:prstGeom prst="rect">
            <a:avLst/>
          </a:prstGeom>
          <a:noFill/>
        </p:spPr>
        <p:txBody>
          <a:bodyPr wrap="square">
            <a:spAutoFit/>
          </a:bodyPr>
          <a:lstStyle/>
          <a:p>
            <a:pPr algn="l"/>
            <a:r>
              <a:rPr sz="1200" b="1">
                <a:solidFill>
                  <a:srgbClr val="FFFFFF"/>
                </a:solidFill>
              </a:rPr>
              <a:t>Proposed Action</a:t>
            </a:r>
          </a:p>
        </p:txBody>
      </p:sp>
      <p:sp>
        <p:nvSpPr>
          <p:cNvPr id="8" name="TextBox 7"/>
          <p:cNvSpPr txBox="1"/>
          <p:nvPr/>
        </p:nvSpPr>
        <p:spPr>
          <a:xfrm>
            <a:off x="10378440" y="1280160"/>
            <a:ext cx="548640" cy="256032"/>
          </a:xfrm>
          <a:prstGeom prst="rect">
            <a:avLst/>
          </a:prstGeom>
          <a:noFill/>
        </p:spPr>
        <p:txBody>
          <a:bodyPr wrap="square">
            <a:spAutoFit/>
          </a:bodyPr>
          <a:lstStyle/>
          <a:p>
            <a:pPr algn="l"/>
            <a:r>
              <a:rPr sz="1200" b="1">
                <a:solidFill>
                  <a:srgbClr val="FFFFFF"/>
                </a:solidFill>
              </a:rPr>
              <a:t/>
            </a:r>
          </a:p>
        </p:txBody>
      </p:sp>
      <p:sp>
        <p:nvSpPr>
          <p:cNvPr id="9" name="Rectangle 8"/>
          <p:cNvSpPr/>
          <p:nvPr/>
        </p:nvSpPr>
        <p:spPr>
          <a:xfrm>
            <a:off x="274320" y="1618488"/>
            <a:ext cx="10972800" cy="310896"/>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655064"/>
            <a:ext cx="2103120" cy="237744"/>
          </a:xfrm>
          <a:prstGeom prst="rect">
            <a:avLst/>
          </a:prstGeom>
          <a:noFill/>
        </p:spPr>
        <p:txBody>
          <a:bodyPr wrap="square">
            <a:spAutoFit/>
          </a:bodyPr>
          <a:lstStyle/>
          <a:p>
            <a:pPr algn="l"/>
            <a:r>
              <a:rPr sz="1100" b="1">
                <a:solidFill>
                  <a:srgbClr val="1F3D6B"/>
                </a:solidFill>
              </a:rPr>
              <a:t>Factory</a:t>
            </a:r>
          </a:p>
        </p:txBody>
      </p:sp>
      <p:sp>
        <p:nvSpPr>
          <p:cNvPr id="11" name="TextBox 10"/>
          <p:cNvSpPr txBox="1"/>
          <p:nvPr/>
        </p:nvSpPr>
        <p:spPr>
          <a:xfrm>
            <a:off x="2697480" y="1655064"/>
            <a:ext cx="3291839" cy="237744"/>
          </a:xfrm>
          <a:prstGeom prst="rect">
            <a:avLst/>
          </a:prstGeom>
          <a:noFill/>
        </p:spPr>
        <p:txBody>
          <a:bodyPr wrap="square">
            <a:spAutoFit/>
          </a:bodyPr>
          <a:lstStyle/>
          <a:p>
            <a:pPr algn="l"/>
            <a:r>
              <a:rPr sz="1100" b="0">
                <a:solidFill>
                  <a:srgbClr val="333333"/>
                </a:solidFill>
              </a:rPr>
              <a:t>Exists — FTP only</a:t>
            </a:r>
          </a:p>
        </p:txBody>
      </p:sp>
      <p:sp>
        <p:nvSpPr>
          <p:cNvPr id="12" name="TextBox 11"/>
          <p:cNvSpPr txBox="1"/>
          <p:nvPr/>
        </p:nvSpPr>
        <p:spPr>
          <a:xfrm>
            <a:off x="6217920" y="1655064"/>
            <a:ext cx="3931920" cy="237744"/>
          </a:xfrm>
          <a:prstGeom prst="rect">
            <a:avLst/>
          </a:prstGeom>
          <a:noFill/>
        </p:spPr>
        <p:txBody>
          <a:bodyPr wrap="square">
            <a:spAutoFit/>
          </a:bodyPr>
          <a:lstStyle/>
          <a:p>
            <a:pPr algn="l"/>
            <a:r>
              <a:rPr sz="1100" b="0">
                <a:solidFill>
                  <a:srgbClr val="333333"/>
                </a:solidFill>
              </a:rPr>
              <a:t>Extend to NNTP</a:t>
            </a:r>
          </a:p>
        </p:txBody>
      </p:sp>
      <p:sp>
        <p:nvSpPr>
          <p:cNvPr id="13" name="TextBox 12"/>
          <p:cNvSpPr txBox="1"/>
          <p:nvPr/>
        </p:nvSpPr>
        <p:spPr>
          <a:xfrm>
            <a:off x="10378440" y="1655064"/>
            <a:ext cx="548640" cy="237744"/>
          </a:xfrm>
          <a:prstGeom prst="rect">
            <a:avLst/>
          </a:prstGeom>
          <a:noFill/>
        </p:spPr>
        <p:txBody>
          <a:bodyPr wrap="square">
            <a:spAutoFit/>
          </a:bodyPr>
          <a:lstStyle/>
          <a:p>
            <a:pPr algn="l"/>
            <a:r>
              <a:rPr sz="1100" b="1">
                <a:solidFill>
                  <a:srgbClr val="D79B00"/>
                </a:solidFill>
              </a:rPr>
              <a:t>✓</a:t>
            </a:r>
          </a:p>
        </p:txBody>
      </p:sp>
      <p:sp>
        <p:nvSpPr>
          <p:cNvPr id="14" name="Rectangle 13"/>
          <p:cNvSpPr/>
          <p:nvPr/>
        </p:nvSpPr>
        <p:spPr>
          <a:xfrm>
            <a:off x="274320" y="1929384"/>
            <a:ext cx="10972800"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1965960"/>
            <a:ext cx="2103120" cy="237744"/>
          </a:xfrm>
          <a:prstGeom prst="rect">
            <a:avLst/>
          </a:prstGeom>
          <a:noFill/>
        </p:spPr>
        <p:txBody>
          <a:bodyPr wrap="square">
            <a:spAutoFit/>
          </a:bodyPr>
          <a:lstStyle/>
          <a:p>
            <a:pPr algn="l"/>
            <a:r>
              <a:rPr sz="1100" b="1">
                <a:solidFill>
                  <a:srgbClr val="1F3D6B"/>
                </a:solidFill>
              </a:rPr>
              <a:t>Abstract Factory</a:t>
            </a:r>
          </a:p>
        </p:txBody>
      </p:sp>
      <p:sp>
        <p:nvSpPr>
          <p:cNvPr id="16" name="TextBox 15"/>
          <p:cNvSpPr txBox="1"/>
          <p:nvPr/>
        </p:nvSpPr>
        <p:spPr>
          <a:xfrm>
            <a:off x="2697480" y="1965960"/>
            <a:ext cx="3291839" cy="237744"/>
          </a:xfrm>
          <a:prstGeom prst="rect">
            <a:avLst/>
          </a:prstGeom>
          <a:noFill/>
        </p:spPr>
        <p:txBody>
          <a:bodyPr wrap="square">
            <a:spAutoFit/>
          </a:bodyPr>
          <a:lstStyle/>
          <a:p>
            <a:pPr algn="l"/>
            <a:r>
              <a:rPr sz="1100" b="0">
                <a:solidFill>
                  <a:srgbClr val="333333"/>
                </a:solidFill>
              </a:rPr>
              <a:t>Exists — FTP only</a:t>
            </a:r>
          </a:p>
        </p:txBody>
      </p:sp>
      <p:sp>
        <p:nvSpPr>
          <p:cNvPr id="17" name="TextBox 16"/>
          <p:cNvSpPr txBox="1"/>
          <p:nvPr/>
        </p:nvSpPr>
        <p:spPr>
          <a:xfrm>
            <a:off x="6217920" y="1965960"/>
            <a:ext cx="3931920" cy="237744"/>
          </a:xfrm>
          <a:prstGeom prst="rect">
            <a:avLst/>
          </a:prstGeom>
          <a:noFill/>
        </p:spPr>
        <p:txBody>
          <a:bodyPr wrap="square">
            <a:spAutoFit/>
          </a:bodyPr>
          <a:lstStyle/>
          <a:p>
            <a:pPr algn="l"/>
            <a:r>
              <a:rPr sz="1100" b="0">
                <a:solidFill>
                  <a:srgbClr val="333333"/>
                </a:solidFill>
              </a:rPr>
              <a:t>Extend to NNTP</a:t>
            </a:r>
          </a:p>
        </p:txBody>
      </p:sp>
      <p:sp>
        <p:nvSpPr>
          <p:cNvPr id="18" name="TextBox 17"/>
          <p:cNvSpPr txBox="1"/>
          <p:nvPr/>
        </p:nvSpPr>
        <p:spPr>
          <a:xfrm>
            <a:off x="10378440" y="1965960"/>
            <a:ext cx="548640" cy="237744"/>
          </a:xfrm>
          <a:prstGeom prst="rect">
            <a:avLst/>
          </a:prstGeom>
          <a:noFill/>
        </p:spPr>
        <p:txBody>
          <a:bodyPr wrap="square">
            <a:spAutoFit/>
          </a:bodyPr>
          <a:lstStyle/>
          <a:p>
            <a:pPr algn="l"/>
            <a:r>
              <a:rPr sz="1100" b="1">
                <a:solidFill>
                  <a:srgbClr val="D79B00"/>
                </a:solidFill>
              </a:rPr>
              <a:t>✓</a:t>
            </a:r>
          </a:p>
        </p:txBody>
      </p:sp>
      <p:sp>
        <p:nvSpPr>
          <p:cNvPr id="19" name="Rectangle 18"/>
          <p:cNvSpPr/>
          <p:nvPr/>
        </p:nvSpPr>
        <p:spPr>
          <a:xfrm>
            <a:off x="274320" y="2240279"/>
            <a:ext cx="10972800" cy="310896"/>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2276856"/>
            <a:ext cx="2103120" cy="237744"/>
          </a:xfrm>
          <a:prstGeom prst="rect">
            <a:avLst/>
          </a:prstGeom>
          <a:noFill/>
        </p:spPr>
        <p:txBody>
          <a:bodyPr wrap="square">
            <a:spAutoFit/>
          </a:bodyPr>
          <a:lstStyle/>
          <a:p>
            <a:pPr algn="l"/>
            <a:r>
              <a:rPr sz="1100" b="1">
                <a:solidFill>
                  <a:srgbClr val="1F3D6B"/>
                </a:solidFill>
              </a:rPr>
              <a:t>Strategy</a:t>
            </a:r>
          </a:p>
        </p:txBody>
      </p:sp>
      <p:sp>
        <p:nvSpPr>
          <p:cNvPr id="21" name="TextBox 20"/>
          <p:cNvSpPr txBox="1"/>
          <p:nvPr/>
        </p:nvSpPr>
        <p:spPr>
          <a:xfrm>
            <a:off x="2697480" y="2276856"/>
            <a:ext cx="3291839" cy="237744"/>
          </a:xfrm>
          <a:prstGeom prst="rect">
            <a:avLst/>
          </a:prstGeom>
          <a:noFill/>
        </p:spPr>
        <p:txBody>
          <a:bodyPr wrap="square">
            <a:spAutoFit/>
          </a:bodyPr>
          <a:lstStyle/>
          <a:p>
            <a:pPr algn="l"/>
            <a:r>
              <a:rPr sz="1100" b="0">
                <a:solidFill>
                  <a:srgbClr val="333333"/>
                </a:solidFill>
              </a:rPr>
              <a:t>Exists — FTP parsers</a:t>
            </a:r>
          </a:p>
        </p:txBody>
      </p:sp>
      <p:sp>
        <p:nvSpPr>
          <p:cNvPr id="22" name="TextBox 21"/>
          <p:cNvSpPr txBox="1"/>
          <p:nvPr/>
        </p:nvSpPr>
        <p:spPr>
          <a:xfrm>
            <a:off x="6217920" y="2276856"/>
            <a:ext cx="3931920" cy="237744"/>
          </a:xfrm>
          <a:prstGeom prst="rect">
            <a:avLst/>
          </a:prstGeom>
          <a:noFill/>
        </p:spPr>
        <p:txBody>
          <a:bodyPr wrap="square">
            <a:spAutoFit/>
          </a:bodyPr>
          <a:lstStyle/>
          <a:p>
            <a:pPr algn="l"/>
            <a:r>
              <a:rPr sz="1100" b="0">
                <a:solidFill>
                  <a:srgbClr val="333333"/>
                </a:solidFill>
              </a:rPr>
              <a:t>Extend to NNTP responses</a:t>
            </a:r>
          </a:p>
        </p:txBody>
      </p:sp>
      <p:sp>
        <p:nvSpPr>
          <p:cNvPr id="23" name="TextBox 22"/>
          <p:cNvSpPr txBox="1"/>
          <p:nvPr/>
        </p:nvSpPr>
        <p:spPr>
          <a:xfrm>
            <a:off x="10378440" y="2276856"/>
            <a:ext cx="548640" cy="237744"/>
          </a:xfrm>
          <a:prstGeom prst="rect">
            <a:avLst/>
          </a:prstGeom>
          <a:noFill/>
        </p:spPr>
        <p:txBody>
          <a:bodyPr wrap="square">
            <a:spAutoFit/>
          </a:bodyPr>
          <a:lstStyle/>
          <a:p>
            <a:pPr algn="l"/>
            <a:r>
              <a:rPr sz="1100" b="1">
                <a:solidFill>
                  <a:srgbClr val="D79B00"/>
                </a:solidFill>
              </a:rPr>
              <a:t>✓</a:t>
            </a:r>
          </a:p>
        </p:txBody>
      </p:sp>
      <p:sp>
        <p:nvSpPr>
          <p:cNvPr id="24" name="Rectangle 23"/>
          <p:cNvSpPr/>
          <p:nvPr/>
        </p:nvSpPr>
        <p:spPr>
          <a:xfrm>
            <a:off x="274320" y="2551175"/>
            <a:ext cx="10972800"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2587751"/>
            <a:ext cx="2103120" cy="237744"/>
          </a:xfrm>
          <a:prstGeom prst="rect">
            <a:avLst/>
          </a:prstGeom>
          <a:noFill/>
        </p:spPr>
        <p:txBody>
          <a:bodyPr wrap="square">
            <a:spAutoFit/>
          </a:bodyPr>
          <a:lstStyle/>
          <a:p>
            <a:pPr algn="l"/>
            <a:r>
              <a:rPr sz="1100" b="1">
                <a:solidFill>
                  <a:srgbClr val="1F3D6B"/>
                </a:solidFill>
              </a:rPr>
              <a:t>Observer</a:t>
            </a:r>
          </a:p>
        </p:txBody>
      </p:sp>
      <p:sp>
        <p:nvSpPr>
          <p:cNvPr id="26" name="TextBox 25"/>
          <p:cNvSpPr txBox="1"/>
          <p:nvPr/>
        </p:nvSpPr>
        <p:spPr>
          <a:xfrm>
            <a:off x="2697480" y="2587751"/>
            <a:ext cx="3291839" cy="237744"/>
          </a:xfrm>
          <a:prstGeom prst="rect">
            <a:avLst/>
          </a:prstGeom>
          <a:noFill/>
        </p:spPr>
        <p:txBody>
          <a:bodyPr wrap="square">
            <a:spAutoFit/>
          </a:bodyPr>
          <a:lstStyle/>
          <a:p>
            <a:pPr algn="l"/>
            <a:r>
              <a:rPr sz="1100" b="0">
                <a:solidFill>
                  <a:srgbClr val="333333"/>
                </a:solidFill>
              </a:rPr>
              <a:t>Exists — partial</a:t>
            </a:r>
          </a:p>
        </p:txBody>
      </p:sp>
      <p:sp>
        <p:nvSpPr>
          <p:cNvPr id="27" name="TextBox 26"/>
          <p:cNvSpPr txBox="1"/>
          <p:nvPr/>
        </p:nvSpPr>
        <p:spPr>
          <a:xfrm>
            <a:off x="6217920" y="2587751"/>
            <a:ext cx="3931920" cy="237744"/>
          </a:xfrm>
          <a:prstGeom prst="rect">
            <a:avLst/>
          </a:prstGeom>
          <a:noFill/>
        </p:spPr>
        <p:txBody>
          <a:bodyPr wrap="square">
            <a:spAutoFit/>
          </a:bodyPr>
          <a:lstStyle/>
          <a:p>
            <a:pPr algn="l"/>
            <a:r>
              <a:rPr sz="1100" b="0">
                <a:solidFill>
                  <a:srgbClr val="333333"/>
                </a:solidFill>
              </a:rPr>
              <a:t>Wire all protocol bases</a:t>
            </a:r>
          </a:p>
        </p:txBody>
      </p:sp>
      <p:sp>
        <p:nvSpPr>
          <p:cNvPr id="28" name="TextBox 27"/>
          <p:cNvSpPr txBox="1"/>
          <p:nvPr/>
        </p:nvSpPr>
        <p:spPr>
          <a:xfrm>
            <a:off x="10378440" y="2587751"/>
            <a:ext cx="548640" cy="237744"/>
          </a:xfrm>
          <a:prstGeom prst="rect">
            <a:avLst/>
          </a:prstGeom>
          <a:noFill/>
        </p:spPr>
        <p:txBody>
          <a:bodyPr wrap="square">
            <a:spAutoFit/>
          </a:bodyPr>
          <a:lstStyle/>
          <a:p>
            <a:pPr algn="l"/>
            <a:r>
              <a:rPr sz="1100" b="1">
                <a:solidFill>
                  <a:srgbClr val="D79B00"/>
                </a:solidFill>
              </a:rPr>
              <a:t>✓</a:t>
            </a:r>
          </a:p>
        </p:txBody>
      </p:sp>
      <p:sp>
        <p:nvSpPr>
          <p:cNvPr id="29" name="Rectangle 28"/>
          <p:cNvSpPr/>
          <p:nvPr/>
        </p:nvSpPr>
        <p:spPr>
          <a:xfrm>
            <a:off x="274320" y="2862071"/>
            <a:ext cx="10972800" cy="310896"/>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2898647"/>
            <a:ext cx="2103120" cy="237744"/>
          </a:xfrm>
          <a:prstGeom prst="rect">
            <a:avLst/>
          </a:prstGeom>
          <a:noFill/>
        </p:spPr>
        <p:txBody>
          <a:bodyPr wrap="square">
            <a:spAutoFit/>
          </a:bodyPr>
          <a:lstStyle/>
          <a:p>
            <a:pPr algn="l"/>
            <a:r>
              <a:rPr sz="1100" b="1">
                <a:solidFill>
                  <a:srgbClr val="1F3D6B"/>
                </a:solidFill>
              </a:rPr>
              <a:t>Template</a:t>
            </a:r>
          </a:p>
        </p:txBody>
      </p:sp>
      <p:sp>
        <p:nvSpPr>
          <p:cNvPr id="31" name="TextBox 30"/>
          <p:cNvSpPr txBox="1"/>
          <p:nvPr/>
        </p:nvSpPr>
        <p:spPr>
          <a:xfrm>
            <a:off x="2697480" y="2898647"/>
            <a:ext cx="3291839" cy="237744"/>
          </a:xfrm>
          <a:prstGeom prst="rect">
            <a:avLst/>
          </a:prstGeom>
          <a:noFill/>
        </p:spPr>
        <p:txBody>
          <a:bodyPr wrap="square">
            <a:spAutoFit/>
          </a:bodyPr>
          <a:lstStyle/>
          <a:p>
            <a:pPr algn="l"/>
            <a:r>
              <a:rPr sz="1100" b="0">
                <a:solidFill>
                  <a:srgbClr val="333333"/>
                </a:solidFill>
              </a:rPr>
              <a:t>Consistent</a:t>
            </a:r>
          </a:p>
        </p:txBody>
      </p:sp>
      <p:sp>
        <p:nvSpPr>
          <p:cNvPr id="32" name="TextBox 31"/>
          <p:cNvSpPr txBox="1"/>
          <p:nvPr/>
        </p:nvSpPr>
        <p:spPr>
          <a:xfrm>
            <a:off x="6217920" y="2898647"/>
            <a:ext cx="3931920" cy="237744"/>
          </a:xfrm>
          <a:prstGeom prst="rect">
            <a:avLst/>
          </a:prstGeom>
          <a:noFill/>
        </p:spPr>
        <p:txBody>
          <a:bodyPr wrap="square">
            <a:spAutoFit/>
          </a:bodyPr>
          <a:lstStyle/>
          <a:p>
            <a:pPr algn="l"/>
            <a:r>
              <a:rPr sz="1100" b="0">
                <a:solidFill>
                  <a:srgbClr val="333333"/>
                </a:solidFill>
              </a:rPr>
              <a:t>No change needed</a:t>
            </a:r>
          </a:p>
        </p:txBody>
      </p:sp>
      <p:sp>
        <p:nvSpPr>
          <p:cNvPr id="33" name="TextBox 32"/>
          <p:cNvSpPr txBox="1"/>
          <p:nvPr/>
        </p:nvSpPr>
        <p:spPr>
          <a:xfrm>
            <a:off x="10378440" y="2898647"/>
            <a:ext cx="548640" cy="237744"/>
          </a:xfrm>
          <a:prstGeom prst="rect">
            <a:avLst/>
          </a:prstGeom>
          <a:noFill/>
        </p:spPr>
        <p:txBody>
          <a:bodyPr wrap="square">
            <a:spAutoFit/>
          </a:bodyPr>
          <a:lstStyle/>
          <a:p>
            <a:pPr algn="l"/>
            <a:r>
              <a:rPr sz="1100" b="1">
                <a:solidFill>
                  <a:srgbClr val="555555"/>
                </a:solidFill>
              </a:rPr>
              <a:t>—</a:t>
            </a:r>
          </a:p>
        </p:txBody>
      </p:sp>
      <p:sp>
        <p:nvSpPr>
          <p:cNvPr id="34" name="Rectangle 33"/>
          <p:cNvSpPr/>
          <p:nvPr/>
        </p:nvSpPr>
        <p:spPr>
          <a:xfrm>
            <a:off x="274320" y="3172967"/>
            <a:ext cx="10972800"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60" y="3209543"/>
            <a:ext cx="2103120" cy="237744"/>
          </a:xfrm>
          <a:prstGeom prst="rect">
            <a:avLst/>
          </a:prstGeom>
          <a:noFill/>
        </p:spPr>
        <p:txBody>
          <a:bodyPr wrap="square">
            <a:spAutoFit/>
          </a:bodyPr>
          <a:lstStyle/>
          <a:p>
            <a:pPr algn="l"/>
            <a:r>
              <a:rPr sz="1100" b="1">
                <a:solidFill>
                  <a:srgbClr val="1F3D6B"/>
                </a:solidFill>
              </a:rPr>
              <a:t>Facade</a:t>
            </a:r>
          </a:p>
        </p:txBody>
      </p:sp>
      <p:sp>
        <p:nvSpPr>
          <p:cNvPr id="36" name="TextBox 35"/>
          <p:cNvSpPr txBox="1"/>
          <p:nvPr/>
        </p:nvSpPr>
        <p:spPr>
          <a:xfrm>
            <a:off x="2697480" y="3209543"/>
            <a:ext cx="3291839" cy="237744"/>
          </a:xfrm>
          <a:prstGeom prst="rect">
            <a:avLst/>
          </a:prstGeom>
          <a:noFill/>
        </p:spPr>
        <p:txBody>
          <a:bodyPr wrap="square">
            <a:spAutoFit/>
          </a:bodyPr>
          <a:lstStyle/>
          <a:p>
            <a:pPr algn="l"/>
            <a:r>
              <a:rPr sz="1100" b="0">
                <a:solidFill>
                  <a:srgbClr val="333333"/>
                </a:solidFill>
              </a:rPr>
              <a:t>Exists — FTP cleanly</a:t>
            </a:r>
          </a:p>
        </p:txBody>
      </p:sp>
      <p:sp>
        <p:nvSpPr>
          <p:cNvPr id="37" name="TextBox 36"/>
          <p:cNvSpPr txBox="1"/>
          <p:nvPr/>
        </p:nvSpPr>
        <p:spPr>
          <a:xfrm>
            <a:off x="6217920" y="3209543"/>
            <a:ext cx="3931920" cy="237744"/>
          </a:xfrm>
          <a:prstGeom prst="rect">
            <a:avLst/>
          </a:prstGeom>
          <a:noFill/>
        </p:spPr>
        <p:txBody>
          <a:bodyPr wrap="square">
            <a:spAutoFit/>
          </a:bodyPr>
          <a:lstStyle/>
          <a:p>
            <a:pPr algn="l"/>
            <a:r>
              <a:rPr sz="1100" b="0">
                <a:solidFill>
                  <a:srgbClr val="333333"/>
                </a:solidFill>
              </a:rPr>
              <a:t>Enforce in SMTP/IMAP/NNTP</a:t>
            </a:r>
          </a:p>
        </p:txBody>
      </p:sp>
      <p:sp>
        <p:nvSpPr>
          <p:cNvPr id="38" name="TextBox 37"/>
          <p:cNvSpPr txBox="1"/>
          <p:nvPr/>
        </p:nvSpPr>
        <p:spPr>
          <a:xfrm>
            <a:off x="10378440" y="3209543"/>
            <a:ext cx="548640" cy="237744"/>
          </a:xfrm>
          <a:prstGeom prst="rect">
            <a:avLst/>
          </a:prstGeom>
          <a:noFill/>
        </p:spPr>
        <p:txBody>
          <a:bodyPr wrap="square">
            <a:spAutoFit/>
          </a:bodyPr>
          <a:lstStyle/>
          <a:p>
            <a:pPr algn="l"/>
            <a:r>
              <a:rPr sz="1100" b="1">
                <a:solidFill>
                  <a:srgbClr val="D79B00"/>
                </a:solidFill>
              </a:rPr>
              <a:t>✓</a:t>
            </a:r>
          </a:p>
        </p:txBody>
      </p:sp>
      <p:sp>
        <p:nvSpPr>
          <p:cNvPr id="39" name="Rectangle 38"/>
          <p:cNvSpPr/>
          <p:nvPr/>
        </p:nvSpPr>
        <p:spPr>
          <a:xfrm>
            <a:off x="274320" y="3483863"/>
            <a:ext cx="10972800" cy="310896"/>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520439"/>
            <a:ext cx="2103120" cy="237744"/>
          </a:xfrm>
          <a:prstGeom prst="rect">
            <a:avLst/>
          </a:prstGeom>
          <a:noFill/>
        </p:spPr>
        <p:txBody>
          <a:bodyPr wrap="square">
            <a:spAutoFit/>
          </a:bodyPr>
          <a:lstStyle/>
          <a:p>
            <a:pPr algn="l"/>
            <a:r>
              <a:rPr sz="1100" b="1">
                <a:solidFill>
                  <a:srgbClr val="1F3D6B"/>
                </a:solidFill>
              </a:rPr>
              <a:t>Composite</a:t>
            </a:r>
          </a:p>
        </p:txBody>
      </p:sp>
      <p:sp>
        <p:nvSpPr>
          <p:cNvPr id="41" name="TextBox 40"/>
          <p:cNvSpPr txBox="1"/>
          <p:nvPr/>
        </p:nvSpPr>
        <p:spPr>
          <a:xfrm>
            <a:off x="2697480" y="3520439"/>
            <a:ext cx="3291839" cy="237744"/>
          </a:xfrm>
          <a:prstGeom prst="rect">
            <a:avLst/>
          </a:prstGeom>
          <a:noFill/>
        </p:spPr>
        <p:txBody>
          <a:bodyPr wrap="square">
            <a:spAutoFit/>
          </a:bodyPr>
          <a:lstStyle/>
          <a:p>
            <a:pPr algn="l"/>
            <a:r>
              <a:rPr sz="1100" b="0">
                <a:solidFill>
                  <a:srgbClr val="333333"/>
                </a:solidFill>
              </a:rPr>
              <a:t>Consistent</a:t>
            </a:r>
          </a:p>
        </p:txBody>
      </p:sp>
      <p:sp>
        <p:nvSpPr>
          <p:cNvPr id="42" name="TextBox 41"/>
          <p:cNvSpPr txBox="1"/>
          <p:nvPr/>
        </p:nvSpPr>
        <p:spPr>
          <a:xfrm>
            <a:off x="6217920" y="3520439"/>
            <a:ext cx="3931920" cy="237744"/>
          </a:xfrm>
          <a:prstGeom prst="rect">
            <a:avLst/>
          </a:prstGeom>
          <a:noFill/>
        </p:spPr>
        <p:txBody>
          <a:bodyPr wrap="square">
            <a:spAutoFit/>
          </a:bodyPr>
          <a:lstStyle/>
          <a:p>
            <a:pPr algn="l"/>
            <a:r>
              <a:rPr sz="1100" b="0">
                <a:solidFill>
                  <a:srgbClr val="333333"/>
                </a:solidFill>
              </a:rPr>
              <a:t>No change needed</a:t>
            </a:r>
          </a:p>
        </p:txBody>
      </p:sp>
      <p:sp>
        <p:nvSpPr>
          <p:cNvPr id="43" name="TextBox 42"/>
          <p:cNvSpPr txBox="1"/>
          <p:nvPr/>
        </p:nvSpPr>
        <p:spPr>
          <a:xfrm>
            <a:off x="10378440" y="3520439"/>
            <a:ext cx="548640" cy="237744"/>
          </a:xfrm>
          <a:prstGeom prst="rect">
            <a:avLst/>
          </a:prstGeom>
          <a:noFill/>
        </p:spPr>
        <p:txBody>
          <a:bodyPr wrap="square">
            <a:spAutoFit/>
          </a:bodyPr>
          <a:lstStyle/>
          <a:p>
            <a:pPr algn="l"/>
            <a:r>
              <a:rPr sz="1100" b="1">
                <a:solidFill>
                  <a:srgbClr val="555555"/>
                </a:solidFill>
              </a:rPr>
              <a:t>—</a:t>
            </a:r>
          </a:p>
        </p:txBody>
      </p:sp>
      <p:sp>
        <p:nvSpPr>
          <p:cNvPr id="44" name="Rectangle 43"/>
          <p:cNvSpPr/>
          <p:nvPr/>
        </p:nvSpPr>
        <p:spPr>
          <a:xfrm>
            <a:off x="274320" y="3794759"/>
            <a:ext cx="10972800"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65760" y="3831335"/>
            <a:ext cx="2103120" cy="237744"/>
          </a:xfrm>
          <a:prstGeom prst="rect">
            <a:avLst/>
          </a:prstGeom>
          <a:noFill/>
        </p:spPr>
        <p:txBody>
          <a:bodyPr wrap="square">
            <a:spAutoFit/>
          </a:bodyPr>
          <a:lstStyle/>
          <a:p>
            <a:pPr algn="l"/>
            <a:r>
              <a:rPr sz="1100" b="1">
                <a:solidFill>
                  <a:srgbClr val="1F3D6B"/>
                </a:solidFill>
              </a:rPr>
              <a:t>Decorator</a:t>
            </a:r>
          </a:p>
        </p:txBody>
      </p:sp>
      <p:sp>
        <p:nvSpPr>
          <p:cNvPr id="46" name="TextBox 45"/>
          <p:cNvSpPr txBox="1"/>
          <p:nvPr/>
        </p:nvSpPr>
        <p:spPr>
          <a:xfrm>
            <a:off x="2697480" y="3831335"/>
            <a:ext cx="3291839" cy="237744"/>
          </a:xfrm>
          <a:prstGeom prst="rect">
            <a:avLst/>
          </a:prstGeom>
          <a:noFill/>
        </p:spPr>
        <p:txBody>
          <a:bodyPr wrap="square">
            <a:spAutoFit/>
          </a:bodyPr>
          <a:lstStyle/>
          <a:p>
            <a:pPr algn="l"/>
            <a:r>
              <a:rPr sz="1100" b="0">
                <a:solidFill>
                  <a:srgbClr val="333333"/>
                </a:solidFill>
              </a:rPr>
              <a:t>Consistent</a:t>
            </a:r>
          </a:p>
        </p:txBody>
      </p:sp>
      <p:sp>
        <p:nvSpPr>
          <p:cNvPr id="47" name="TextBox 46"/>
          <p:cNvSpPr txBox="1"/>
          <p:nvPr/>
        </p:nvSpPr>
        <p:spPr>
          <a:xfrm>
            <a:off x="6217920" y="3831335"/>
            <a:ext cx="3931920" cy="237744"/>
          </a:xfrm>
          <a:prstGeom prst="rect">
            <a:avLst/>
          </a:prstGeom>
          <a:noFill/>
        </p:spPr>
        <p:txBody>
          <a:bodyPr wrap="square">
            <a:spAutoFit/>
          </a:bodyPr>
          <a:lstStyle/>
          <a:p>
            <a:pPr algn="l"/>
            <a:r>
              <a:rPr sz="1100" b="0">
                <a:solidFill>
                  <a:srgbClr val="333333"/>
                </a:solidFill>
              </a:rPr>
              <a:t>No change needed</a:t>
            </a:r>
          </a:p>
        </p:txBody>
      </p:sp>
      <p:sp>
        <p:nvSpPr>
          <p:cNvPr id="48" name="TextBox 47"/>
          <p:cNvSpPr txBox="1"/>
          <p:nvPr/>
        </p:nvSpPr>
        <p:spPr>
          <a:xfrm>
            <a:off x="10378440" y="3831335"/>
            <a:ext cx="548640" cy="237744"/>
          </a:xfrm>
          <a:prstGeom prst="rect">
            <a:avLst/>
          </a:prstGeom>
          <a:noFill/>
        </p:spPr>
        <p:txBody>
          <a:bodyPr wrap="square">
            <a:spAutoFit/>
          </a:bodyPr>
          <a:lstStyle/>
          <a:p>
            <a:pPr algn="l"/>
            <a:r>
              <a:rPr sz="1100" b="1">
                <a:solidFill>
                  <a:srgbClr val="555555"/>
                </a:solidFill>
              </a:rPr>
              <a:t>—</a:t>
            </a:r>
          </a:p>
        </p:txBody>
      </p:sp>
      <p:sp>
        <p:nvSpPr>
          <p:cNvPr id="49" name="Rectangle 48"/>
          <p:cNvSpPr/>
          <p:nvPr/>
        </p:nvSpPr>
        <p:spPr>
          <a:xfrm>
            <a:off x="274320" y="4105655"/>
            <a:ext cx="10972800" cy="310896"/>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5760" y="4142231"/>
            <a:ext cx="2103120" cy="237744"/>
          </a:xfrm>
          <a:prstGeom prst="rect">
            <a:avLst/>
          </a:prstGeom>
          <a:noFill/>
        </p:spPr>
        <p:txBody>
          <a:bodyPr wrap="square">
            <a:spAutoFit/>
          </a:bodyPr>
          <a:lstStyle/>
          <a:p>
            <a:pPr algn="l"/>
            <a:r>
              <a:rPr sz="1100" b="1">
                <a:solidFill>
                  <a:srgbClr val="1F3D6B"/>
                </a:solidFill>
              </a:rPr>
              <a:t>Adapter</a:t>
            </a:r>
          </a:p>
        </p:txBody>
      </p:sp>
      <p:sp>
        <p:nvSpPr>
          <p:cNvPr id="51" name="TextBox 50"/>
          <p:cNvSpPr txBox="1"/>
          <p:nvPr/>
        </p:nvSpPr>
        <p:spPr>
          <a:xfrm>
            <a:off x="2697480" y="4142231"/>
            <a:ext cx="3291839" cy="237744"/>
          </a:xfrm>
          <a:prstGeom prst="rect">
            <a:avLst/>
          </a:prstGeom>
          <a:noFill/>
        </p:spPr>
        <p:txBody>
          <a:bodyPr wrap="square">
            <a:spAutoFit/>
          </a:bodyPr>
          <a:lstStyle/>
          <a:p>
            <a:pPr algn="l"/>
            <a:r>
              <a:rPr sz="1100" b="0">
                <a:solidFill>
                  <a:srgbClr val="333333"/>
                </a:solidFill>
              </a:rPr>
              <a:t>Consistent</a:t>
            </a:r>
          </a:p>
        </p:txBody>
      </p:sp>
      <p:sp>
        <p:nvSpPr>
          <p:cNvPr id="52" name="TextBox 51"/>
          <p:cNvSpPr txBox="1"/>
          <p:nvPr/>
        </p:nvSpPr>
        <p:spPr>
          <a:xfrm>
            <a:off x="6217920" y="4142231"/>
            <a:ext cx="3931920" cy="237744"/>
          </a:xfrm>
          <a:prstGeom prst="rect">
            <a:avLst/>
          </a:prstGeom>
          <a:noFill/>
        </p:spPr>
        <p:txBody>
          <a:bodyPr wrap="square">
            <a:spAutoFit/>
          </a:bodyPr>
          <a:lstStyle/>
          <a:p>
            <a:pPr algn="l"/>
            <a:r>
              <a:rPr sz="1100" b="0">
                <a:solidFill>
                  <a:srgbClr val="333333"/>
                </a:solidFill>
              </a:rPr>
              <a:t>No change needed</a:t>
            </a:r>
          </a:p>
        </p:txBody>
      </p:sp>
      <p:sp>
        <p:nvSpPr>
          <p:cNvPr id="53" name="TextBox 52"/>
          <p:cNvSpPr txBox="1"/>
          <p:nvPr/>
        </p:nvSpPr>
        <p:spPr>
          <a:xfrm>
            <a:off x="10378440" y="4142231"/>
            <a:ext cx="548640" cy="237744"/>
          </a:xfrm>
          <a:prstGeom prst="rect">
            <a:avLst/>
          </a:prstGeom>
          <a:noFill/>
        </p:spPr>
        <p:txBody>
          <a:bodyPr wrap="square">
            <a:spAutoFit/>
          </a:bodyPr>
          <a:lstStyle/>
          <a:p>
            <a:pPr algn="l"/>
            <a:r>
              <a:rPr sz="1100" b="1">
                <a:solidFill>
                  <a:srgbClr val="555555"/>
                </a:solidFill>
              </a:rPr>
              <a:t>—</a:t>
            </a:r>
          </a:p>
        </p:txBody>
      </p:sp>
      <p:sp>
        <p:nvSpPr>
          <p:cNvPr id="54" name="Rectangle 53"/>
          <p:cNvSpPr/>
          <p:nvPr/>
        </p:nvSpPr>
        <p:spPr>
          <a:xfrm>
            <a:off x="274320" y="4416551"/>
            <a:ext cx="10972800"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65760" y="4453127"/>
            <a:ext cx="2103120" cy="237744"/>
          </a:xfrm>
          <a:prstGeom prst="rect">
            <a:avLst/>
          </a:prstGeom>
          <a:noFill/>
        </p:spPr>
        <p:txBody>
          <a:bodyPr wrap="square">
            <a:spAutoFit/>
          </a:bodyPr>
          <a:lstStyle/>
          <a:p>
            <a:pPr algn="l"/>
            <a:r>
              <a:rPr sz="1100" b="1">
                <a:solidFill>
                  <a:srgbClr val="1F3D6B"/>
                </a:solidFill>
              </a:rPr>
              <a:t>Iterator</a:t>
            </a:r>
          </a:p>
        </p:txBody>
      </p:sp>
      <p:sp>
        <p:nvSpPr>
          <p:cNvPr id="56" name="TextBox 55"/>
          <p:cNvSpPr txBox="1"/>
          <p:nvPr/>
        </p:nvSpPr>
        <p:spPr>
          <a:xfrm>
            <a:off x="2697480" y="4453127"/>
            <a:ext cx="3291839" cy="237744"/>
          </a:xfrm>
          <a:prstGeom prst="rect">
            <a:avLst/>
          </a:prstGeom>
          <a:noFill/>
        </p:spPr>
        <p:txBody>
          <a:bodyPr wrap="square">
            <a:spAutoFit/>
          </a:bodyPr>
          <a:lstStyle/>
          <a:p>
            <a:pPr algn="l"/>
            <a:r>
              <a:rPr sz="1100" b="0">
                <a:solidFill>
                  <a:srgbClr val="333333"/>
                </a:solidFill>
              </a:rPr>
              <a:t>Consistent — NNTP</a:t>
            </a:r>
          </a:p>
        </p:txBody>
      </p:sp>
      <p:sp>
        <p:nvSpPr>
          <p:cNvPr id="57" name="TextBox 56"/>
          <p:cNvSpPr txBox="1"/>
          <p:nvPr/>
        </p:nvSpPr>
        <p:spPr>
          <a:xfrm>
            <a:off x="6217920" y="4453127"/>
            <a:ext cx="3931920" cy="237744"/>
          </a:xfrm>
          <a:prstGeom prst="rect">
            <a:avLst/>
          </a:prstGeom>
          <a:noFill/>
        </p:spPr>
        <p:txBody>
          <a:bodyPr wrap="square">
            <a:spAutoFit/>
          </a:bodyPr>
          <a:lstStyle/>
          <a:p>
            <a:pPr algn="l"/>
            <a:r>
              <a:rPr sz="1100" b="0">
                <a:solidFill>
                  <a:srgbClr val="333333"/>
                </a:solidFill>
              </a:rPr>
              <a:t>No change needed</a:t>
            </a:r>
          </a:p>
        </p:txBody>
      </p:sp>
      <p:sp>
        <p:nvSpPr>
          <p:cNvPr id="58" name="TextBox 57"/>
          <p:cNvSpPr txBox="1"/>
          <p:nvPr/>
        </p:nvSpPr>
        <p:spPr>
          <a:xfrm>
            <a:off x="10378440" y="4453127"/>
            <a:ext cx="548640" cy="237744"/>
          </a:xfrm>
          <a:prstGeom prst="rect">
            <a:avLst/>
          </a:prstGeom>
          <a:noFill/>
        </p:spPr>
        <p:txBody>
          <a:bodyPr wrap="square">
            <a:spAutoFit/>
          </a:bodyPr>
          <a:lstStyle/>
          <a:p>
            <a:pPr algn="l"/>
            <a:r>
              <a:rPr sz="1100" b="1">
                <a:solidFill>
                  <a:srgbClr val="555555"/>
                </a:solidFill>
              </a:rPr>
              <a:t>—</a:t>
            </a:r>
          </a:p>
        </p:txBody>
      </p:sp>
      <p:sp>
        <p:nvSpPr>
          <p:cNvPr id="59" name="Rectangle 58"/>
          <p:cNvSpPr/>
          <p:nvPr/>
        </p:nvSpPr>
        <p:spPr>
          <a:xfrm>
            <a:off x="274320" y="4727447"/>
            <a:ext cx="10972800" cy="310896"/>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5760" y="4764023"/>
            <a:ext cx="2103120" cy="237744"/>
          </a:xfrm>
          <a:prstGeom prst="rect">
            <a:avLst/>
          </a:prstGeom>
          <a:noFill/>
        </p:spPr>
        <p:txBody>
          <a:bodyPr wrap="square">
            <a:spAutoFit/>
          </a:bodyPr>
          <a:lstStyle/>
          <a:p>
            <a:pPr algn="l"/>
            <a:r>
              <a:rPr sz="1100" b="1">
                <a:solidFill>
                  <a:srgbClr val="1F3D6B"/>
                </a:solidFill>
              </a:rPr>
              <a:t>Builder</a:t>
            </a:r>
          </a:p>
        </p:txBody>
      </p:sp>
      <p:sp>
        <p:nvSpPr>
          <p:cNvPr id="61" name="TextBox 60"/>
          <p:cNvSpPr txBox="1"/>
          <p:nvPr/>
        </p:nvSpPr>
        <p:spPr>
          <a:xfrm>
            <a:off x="2697480" y="4764023"/>
            <a:ext cx="3291839" cy="237744"/>
          </a:xfrm>
          <a:prstGeom prst="rect">
            <a:avLst/>
          </a:prstGeom>
          <a:noFill/>
        </p:spPr>
        <p:txBody>
          <a:bodyPr wrap="square">
            <a:spAutoFit/>
          </a:bodyPr>
          <a:lstStyle/>
          <a:p>
            <a:pPr algn="l"/>
            <a:r>
              <a:rPr sz="1100" b="0">
                <a:solidFill>
                  <a:srgbClr val="333333"/>
                </a:solidFill>
              </a:rPr>
              <a:t>Does not exist</a:t>
            </a:r>
          </a:p>
        </p:txBody>
      </p:sp>
      <p:sp>
        <p:nvSpPr>
          <p:cNvPr id="62" name="TextBox 61"/>
          <p:cNvSpPr txBox="1"/>
          <p:nvPr/>
        </p:nvSpPr>
        <p:spPr>
          <a:xfrm>
            <a:off x="6217920" y="4764023"/>
            <a:ext cx="3931920" cy="237744"/>
          </a:xfrm>
          <a:prstGeom prst="rect">
            <a:avLst/>
          </a:prstGeom>
          <a:noFill/>
        </p:spPr>
        <p:txBody>
          <a:bodyPr wrap="square">
            <a:spAutoFit/>
          </a:bodyPr>
          <a:lstStyle/>
          <a:p>
            <a:pPr algn="l"/>
            <a:r>
              <a:rPr sz="1100" b="0">
                <a:solidFill>
                  <a:srgbClr val="333333"/>
                </a:solidFill>
              </a:rPr>
              <a:t>Add for FTPClientConfig</a:t>
            </a:r>
          </a:p>
        </p:txBody>
      </p:sp>
      <p:sp>
        <p:nvSpPr>
          <p:cNvPr id="63" name="TextBox 62"/>
          <p:cNvSpPr txBox="1"/>
          <p:nvPr/>
        </p:nvSpPr>
        <p:spPr>
          <a:xfrm>
            <a:off x="10378440" y="4764023"/>
            <a:ext cx="548640" cy="237744"/>
          </a:xfrm>
          <a:prstGeom prst="rect">
            <a:avLst/>
          </a:prstGeom>
          <a:noFill/>
        </p:spPr>
        <p:txBody>
          <a:bodyPr wrap="square">
            <a:spAutoFit/>
          </a:bodyPr>
          <a:lstStyle/>
          <a:p>
            <a:pPr algn="l"/>
            <a:r>
              <a:rPr sz="1100" b="1">
                <a:solidFill>
                  <a:srgbClr val="2E7D32"/>
                </a:solidFill>
              </a:rPr>
              <a:t>NEW</a:t>
            </a:r>
          </a:p>
        </p:txBody>
      </p:sp>
      <p:sp>
        <p:nvSpPr>
          <p:cNvPr id="64" name="Rectangle 63"/>
          <p:cNvSpPr/>
          <p:nvPr/>
        </p:nvSpPr>
        <p:spPr>
          <a:xfrm>
            <a:off x="274320" y="5038343"/>
            <a:ext cx="10972800"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65760" y="5074919"/>
            <a:ext cx="2103120" cy="237744"/>
          </a:xfrm>
          <a:prstGeom prst="rect">
            <a:avLst/>
          </a:prstGeom>
          <a:noFill/>
        </p:spPr>
        <p:txBody>
          <a:bodyPr wrap="square">
            <a:spAutoFit/>
          </a:bodyPr>
          <a:lstStyle/>
          <a:p>
            <a:pPr algn="l"/>
            <a:r>
              <a:rPr sz="1100" b="1">
                <a:solidFill>
                  <a:srgbClr val="1F3D6B"/>
                </a:solidFill>
              </a:rPr>
              <a:t>Singleton</a:t>
            </a:r>
          </a:p>
        </p:txBody>
      </p:sp>
      <p:sp>
        <p:nvSpPr>
          <p:cNvPr id="66" name="TextBox 65"/>
          <p:cNvSpPr txBox="1"/>
          <p:nvPr/>
        </p:nvSpPr>
        <p:spPr>
          <a:xfrm>
            <a:off x="2697480" y="5074919"/>
            <a:ext cx="3291839" cy="237744"/>
          </a:xfrm>
          <a:prstGeom prst="rect">
            <a:avLst/>
          </a:prstGeom>
          <a:noFill/>
        </p:spPr>
        <p:txBody>
          <a:bodyPr wrap="square">
            <a:spAutoFit/>
          </a:bodyPr>
          <a:lstStyle/>
          <a:p>
            <a:pPr algn="l"/>
            <a:r>
              <a:rPr sz="1100" b="0">
                <a:solidFill>
                  <a:srgbClr val="333333"/>
                </a:solidFill>
              </a:rPr>
              <a:t>Does not exist</a:t>
            </a:r>
          </a:p>
        </p:txBody>
      </p:sp>
      <p:sp>
        <p:nvSpPr>
          <p:cNvPr id="67" name="TextBox 66"/>
          <p:cNvSpPr txBox="1"/>
          <p:nvPr/>
        </p:nvSpPr>
        <p:spPr>
          <a:xfrm>
            <a:off x="6217920" y="5074919"/>
            <a:ext cx="3931920" cy="237744"/>
          </a:xfrm>
          <a:prstGeom prst="rect">
            <a:avLst/>
          </a:prstGeom>
          <a:noFill/>
        </p:spPr>
        <p:txBody>
          <a:bodyPr wrap="square">
            <a:spAutoFit/>
          </a:bodyPr>
          <a:lstStyle/>
          <a:p>
            <a:pPr algn="l"/>
            <a:r>
              <a:rPr sz="1100" b="0">
                <a:solidFill>
                  <a:srgbClr val="333333"/>
                </a:solidFill>
              </a:rPr>
              <a:t>Add for socket factories</a:t>
            </a:r>
          </a:p>
        </p:txBody>
      </p:sp>
      <p:sp>
        <p:nvSpPr>
          <p:cNvPr id="68" name="TextBox 67"/>
          <p:cNvSpPr txBox="1"/>
          <p:nvPr/>
        </p:nvSpPr>
        <p:spPr>
          <a:xfrm>
            <a:off x="10378440" y="5074919"/>
            <a:ext cx="548640" cy="237744"/>
          </a:xfrm>
          <a:prstGeom prst="rect">
            <a:avLst/>
          </a:prstGeom>
          <a:noFill/>
        </p:spPr>
        <p:txBody>
          <a:bodyPr wrap="square">
            <a:spAutoFit/>
          </a:bodyPr>
          <a:lstStyle/>
          <a:p>
            <a:pPr algn="l"/>
            <a:r>
              <a:rPr sz="1100" b="1">
                <a:solidFill>
                  <a:srgbClr val="2E7D32"/>
                </a:solidFill>
              </a:rPr>
              <a:t>NEW</a:t>
            </a:r>
          </a:p>
        </p:txBody>
      </p:sp>
      <p:sp>
        <p:nvSpPr>
          <p:cNvPr id="69" name="Rectangle 68"/>
          <p:cNvSpPr/>
          <p:nvPr/>
        </p:nvSpPr>
        <p:spPr>
          <a:xfrm>
            <a:off x="274320" y="5349239"/>
            <a:ext cx="10972800" cy="310896"/>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65760" y="5385815"/>
            <a:ext cx="2103120" cy="237744"/>
          </a:xfrm>
          <a:prstGeom prst="rect">
            <a:avLst/>
          </a:prstGeom>
          <a:noFill/>
        </p:spPr>
        <p:txBody>
          <a:bodyPr wrap="square">
            <a:spAutoFit/>
          </a:bodyPr>
          <a:lstStyle/>
          <a:p>
            <a:pPr algn="l"/>
            <a:r>
              <a:rPr sz="1100" b="1">
                <a:solidFill>
                  <a:srgbClr val="1F3D6B"/>
                </a:solidFill>
              </a:rPr>
              <a:t>Bridge</a:t>
            </a:r>
          </a:p>
        </p:txBody>
      </p:sp>
      <p:sp>
        <p:nvSpPr>
          <p:cNvPr id="71" name="TextBox 70"/>
          <p:cNvSpPr txBox="1"/>
          <p:nvPr/>
        </p:nvSpPr>
        <p:spPr>
          <a:xfrm>
            <a:off x="2697480" y="5385815"/>
            <a:ext cx="3291839" cy="237744"/>
          </a:xfrm>
          <a:prstGeom prst="rect">
            <a:avLst/>
          </a:prstGeom>
          <a:noFill/>
        </p:spPr>
        <p:txBody>
          <a:bodyPr wrap="square">
            <a:spAutoFit/>
          </a:bodyPr>
          <a:lstStyle/>
          <a:p>
            <a:pPr algn="l"/>
            <a:r>
              <a:rPr sz="1100" b="0">
                <a:solidFill>
                  <a:srgbClr val="333333"/>
                </a:solidFill>
              </a:rPr>
              <a:t>Does not exist</a:t>
            </a:r>
          </a:p>
        </p:txBody>
      </p:sp>
      <p:sp>
        <p:nvSpPr>
          <p:cNvPr id="72" name="TextBox 71"/>
          <p:cNvSpPr txBox="1"/>
          <p:nvPr/>
        </p:nvSpPr>
        <p:spPr>
          <a:xfrm>
            <a:off x="6217920" y="5385815"/>
            <a:ext cx="3931920" cy="237744"/>
          </a:xfrm>
          <a:prstGeom prst="rect">
            <a:avLst/>
          </a:prstGeom>
          <a:noFill/>
        </p:spPr>
        <p:txBody>
          <a:bodyPr wrap="square">
            <a:spAutoFit/>
          </a:bodyPr>
          <a:lstStyle/>
          <a:p>
            <a:pPr algn="l"/>
            <a:r>
              <a:rPr sz="1100" b="0">
                <a:solidFill>
                  <a:srgbClr val="333333"/>
                </a:solidFill>
              </a:rPr>
              <a:t>Add for TLS negotiation</a:t>
            </a:r>
          </a:p>
        </p:txBody>
      </p:sp>
      <p:sp>
        <p:nvSpPr>
          <p:cNvPr id="73" name="TextBox 72"/>
          <p:cNvSpPr txBox="1"/>
          <p:nvPr/>
        </p:nvSpPr>
        <p:spPr>
          <a:xfrm>
            <a:off x="10378440" y="5385815"/>
            <a:ext cx="548640" cy="237744"/>
          </a:xfrm>
          <a:prstGeom prst="rect">
            <a:avLst/>
          </a:prstGeom>
          <a:noFill/>
        </p:spPr>
        <p:txBody>
          <a:bodyPr wrap="square">
            <a:spAutoFit/>
          </a:bodyPr>
          <a:lstStyle/>
          <a:p>
            <a:pPr algn="l"/>
            <a:r>
              <a:rPr sz="1100" b="1">
                <a:solidFill>
                  <a:srgbClr val="2E7D32"/>
                </a:solidFill>
              </a:rPr>
              <a:t>NEW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